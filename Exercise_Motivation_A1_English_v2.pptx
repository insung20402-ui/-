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media1.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3" r:id="rId14"/>
    <p:sldId id="257" r:id="rId3"/>
    <p:sldId id="258" r:id="rId4"/>
    <p:sldId id="259" r:id="rId5"/>
    <p:sldId id="260" r:id="rId6"/>
    <p:sldId id="261" r:id="rId7"/>
    <p:sldId id="262" r:id="rId8"/>
  </p:sldIdLst>
  <p:sldSz cx="18288000" cy="10287000"/>
  <p:notesSz cx="6858000" cy="9144000"/>
  <p:embeddedFontLst>
    <p:embeddedFont>
      <p:font typeface="마카롱" panose="020B0600000101010101" charset="-127"/>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50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font" Target="fonts/font1.fnt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2.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our team — Lee Insung and Friends — will introduce our project: a song about exercise motivation, built around a strong warning message. The members are Lee Minjae, Lee Yeongu, Lee Insung, and Lee Hayul.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explain the idea behind our project, let's listen to the song itself. This song is called "Kids Who Exercise," written and composed by our team using Suno AI. As you listen, please follow along with the lyrics on the screen. Notice how the song moves from a warning about not exercising to an energetic, positive message about moving every day. (Play the song 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this song about? This song is about exercise. It uses a strong warning message to make people want to move. The core message is: "If you do not move, tomorrow will be worse." Through this idea, the song shows why exercise is so important. Exercise helps both our body and our mind — it improves fitness, mental health, and our daily life. We hope this song makes you think about the importance of exercise, and gives you motivation to move through a strong, honest warning.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more closely at what we mean by a "strong warning message." Our key phrase is: "If you do not move, tomorrow will be worse." This is a message designed to lead people to action. We also looked at what happens when people don't exercise — low fitness, low energy, and poor health. By placing "No Exercise" next to "Exercise," we create a clear contrast that motivates people to choose the healthier path. A strong warning message works because it shows a real problem. Saying "Move now, or your future will be worse" makes the need for exercise feel urgent and personal.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about the negative effects of not exercising. First, low fitness and disease risk: lack of exercise weakens our muscles and heart health, and increases the risk of obesity, diabetes, and heart disease. Second, worse mental health: being inactive can increase stress, anxiety, and sadness, and it can reduce our sleep quality. Third, lower quality of life: without exercise, people may feel tired, lose focus, and enjoy daily life less. In short, a lack of exercise has serious effects on both our health and our daily life — and that's exactly the warning our song is sending.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team. Lee Minjae was our team leader — he led the project and organized our main message. Lee Yeongu handled research — collecting information and data about exercise. Lee Insung worked on presentation and planning — preparing this presentation and the script. And Lee Hayul created our visual materials and design. Together, we combined research, music, writing, and design to bring this project to life.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our key message: "Move today for a better tomorrow." Change starts when we face reality. If we don't exercise, our health can get worse over time. But one small step today can change tomorrow. We want everyone to start moving now — small actions can build a healthy life. Remember: the warning is the start, but exercise is the first step to real change.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Let's move together and make a healthy tomorrow! Once again, our team is Lee Minjae, Lee Yeongu, Lee Insung, and Lee Hayul. Remember our message: warning is the start, exercise is the change.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659B7C15-7C26-0D40-0EE7-B71555217B6E}"/>
              </a:ext>
            </a:extLst>
          </p:cNvPr>
          <p:cNvSpPr txBox="1"/>
          <p:nvPr userDrawn="1"/>
        </p:nvSpPr>
        <p:spPr>
          <a:xfrm>
            <a:off x="12725400" y="860354"/>
            <a:ext cx="9144000" cy="369332"/>
          </a:xfrm>
          <a:prstGeom prst="rect">
            <a:avLst/>
          </a:prstGeom>
          <a:noFill/>
        </p:spPr>
        <p:txBody>
          <a:bodyPr wrap="square">
            <a:spAutoFit/>
          </a:bodyPr>
          <a:lstStyle/>
          <a:p>
            <a:r>
              <a:rPr lang="en-US" altLang="ko-KR" dirty="0"/>
              <a:t>Lee </a:t>
            </a:r>
            <a:r>
              <a:rPr lang="en-US" altLang="ko-KR" dirty="0" err="1"/>
              <a:t>Insung</a:t>
            </a:r>
            <a:r>
              <a:rPr lang="en-US" altLang="ko-KR" dirty="0"/>
              <a:t> and Friends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3"/><Relationship Id="rId3" Type="http://schemas.openxmlformats.org/officeDocument/2006/relationships/video" Target="../media/media1.mp3"/><Relationship Id="rId4" Type="http://schemas.openxmlformats.org/officeDocument/2006/relationships/image" Target="../media/image8.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27793" y="497095"/>
            <a:ext cx="1111397" cy="2050831"/>
          </a:xfrm>
          <a:custGeom>
            <a:avLst/>
            <a:gdLst/>
            <a:ahLst/>
            <a:cxnLst/>
            <a:rect l="l" t="t" r="r" b="b"/>
            <a:pathLst>
              <a:path w="1111397" h="2050831">
                <a:moveTo>
                  <a:pt x="0" y="0"/>
                </a:moveTo>
                <a:lnTo>
                  <a:pt x="1111397" y="0"/>
                </a:lnTo>
                <a:lnTo>
                  <a:pt x="1111397" y="2050830"/>
                </a:lnTo>
                <a:lnTo>
                  <a:pt x="0" y="2050830"/>
                </a:lnTo>
                <a:lnTo>
                  <a:pt x="0" y="0"/>
                </a:lnTo>
                <a:close/>
              </a:path>
            </a:pathLst>
          </a:custGeom>
          <a:blipFill>
            <a:blip r:embed="rId2"/>
            <a:stretch>
              <a:fillRect/>
            </a:stretch>
          </a:blipFill>
        </p:spPr>
        <p:txBody>
          <a:bodyPr/>
          <a:lstStyle/>
          <a:p>
            <a:endParaRPr/>
          </a:p>
        </p:txBody>
      </p:sp>
      <p:sp>
        <p:nvSpPr>
          <p:cNvPr id="6" name="TextBox 6"/>
          <p:cNvSpPr txBox="1"/>
          <p:nvPr/>
        </p:nvSpPr>
        <p:spPr>
          <a:xfrm>
            <a:off x="4360313" y="3486720"/>
            <a:ext cx="9567375" cy="2215991"/>
          </a:xfrm>
          <a:prstGeom prst="rect">
            <a:avLst/>
          </a:prstGeom>
        </p:spPr>
        <p:txBody>
          <a:bodyPr lIns="0" tIns="0" rIns="0" bIns="0" rtlCol="0" anchor="t">
            <a:spAutoFit/>
          </a:bodyPr>
          <a:lstStyle/>
          <a:p>
            <a:r>
              <a:rPr sz="4800" dirty="0"/>
              <a:t>Exercise Motivation</a:t>
            </a:r>
          </a:p>
          <a:p>
            <a:r>
              <a:rPr sz="4800" dirty="0"/>
              <a:t>Through</a:t>
            </a:r>
          </a:p>
          <a:p>
            <a:r>
              <a:rPr sz="4800" dirty="0"/>
              <a:t>Strong Warning Messages</a:t>
            </a:r>
          </a:p>
        </p:txBody>
      </p:sp>
      <p:sp>
        <p:nvSpPr>
          <p:cNvPr id="7" name="TextBox 7"/>
          <p:cNvSpPr txBox="1"/>
          <p:nvPr/>
        </p:nvSpPr>
        <p:spPr>
          <a:xfrm>
            <a:off x="5296976" y="8546847"/>
            <a:ext cx="1704301" cy="273067"/>
          </a:xfrm>
          <a:prstGeom prst="rect">
            <a:avLst/>
          </a:prstGeom>
        </p:spPr>
        <p:txBody>
          <a:bodyPr lIns="0" tIns="0" rIns="0" bIns="0" rtlCol="0" anchor="t">
            <a:spAutoFit/>
          </a:bodyPr>
          <a:lstStyle/>
          <a:p>
            <a:r>
              <a:t>Lee Insung and Friends</a:t>
            </a:r>
          </a:p>
        </p:txBody>
      </p:sp>
      <p:sp>
        <p:nvSpPr>
          <p:cNvPr id="8" name="TextBox 8"/>
          <p:cNvSpPr txBox="1"/>
          <p:nvPr/>
        </p:nvSpPr>
        <p:spPr>
          <a:xfrm>
            <a:off x="7506704" y="8537322"/>
            <a:ext cx="3016821" cy="318700"/>
          </a:xfrm>
          <a:prstGeom prst="rect">
            <a:avLst/>
          </a:prstGeom>
        </p:spPr>
        <p:txBody>
          <a:bodyPr lIns="0" tIns="0" rIns="0" bIns="0" rtlCol="0" anchor="t">
            <a:spAutoFit/>
          </a:bodyPr>
          <a:lstStyle/>
          <a:p>
            <a:r>
              <a:t>Lee Minjae · Lee Yeongu · Lee Insung · Lee Hayul</a:t>
            </a:r>
          </a:p>
        </p:txBody>
      </p:sp>
      <p:sp>
        <p:nvSpPr>
          <p:cNvPr id="9" name="TextBox 9"/>
          <p:cNvSpPr txBox="1"/>
          <p:nvPr/>
        </p:nvSpPr>
        <p:spPr>
          <a:xfrm>
            <a:off x="13411200" y="1524834"/>
            <a:ext cx="3162482" cy="369332"/>
          </a:xfrm>
          <a:prstGeom prst="rect">
            <a:avLst/>
          </a:prstGeom>
        </p:spPr>
        <p:txBody>
          <a:bodyPr wrap="square" lIns="0" tIns="0" rIns="0" bIns="0" rtlCol="0" anchor="t">
            <a:spAutoFit/>
          </a:bodyPr>
          <a:lstStyle/>
          <a:p>
            <a:r>
              <a:rPr sz="2400" dirty="0"/>
              <a:t>Song Topic Presentation</a:t>
            </a:r>
          </a:p>
        </p:txBody>
      </p:sp>
      <p:sp>
        <p:nvSpPr>
          <p:cNvPr id="10" name="AutoShape 10"/>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1" name="AutoShape 11"/>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DE"/>
        </a:solidFill>
        <a:effectLst/>
      </p:bgPr>
    </p:bg>
    <p:spTree>
      <p:nvGrpSpPr>
        <p:cNvPr id="1" name=""/>
        <p:cNvGrpSpPr/>
        <p:nvPr/>
      </p:nvGrpSpPr>
      <p:grpSpPr/>
      <p:sp>
        <p:nvSpPr>
          <p:cNvPr id="2" name="TextBox 1"/>
          <p:cNvSpPr txBox="1"/>
          <p:nvPr/>
        </p:nvSpPr>
        <p:spPr>
          <a:xfrm>
            <a:off x="928307" y="700000"/>
            <a:ext cx="16431386" cy="1100000"/>
          </a:xfrm>
          <a:prstGeom prst="rect">
            <a:avLst/>
          </a:prstGeom>
          <a:noFill/>
        </p:spPr>
        <p:txBody>
          <a:bodyPr wrap="square">
            <a:spAutoFit/>
          </a:bodyPr>
          <a:lstStyle/>
          <a:p>
            <a:pPr algn="ctr"/>
            <a:r>
              <a:rPr sz="4400" b="1">
                <a:solidFill>
                  <a:srgbClr val="34332C"/>
                </a:solidFill>
              </a:rPr>
              <a:t>Listen to the Song</a:t>
            </a:r>
          </a:p>
        </p:txBody>
      </p:sp>
      <p:sp>
        <p:nvSpPr>
          <p:cNvPr id="3" name="TextBox 2"/>
          <p:cNvSpPr txBox="1"/>
          <p:nvPr/>
        </p:nvSpPr>
        <p:spPr>
          <a:xfrm>
            <a:off x="928307" y="1750000"/>
            <a:ext cx="16431386" cy="550000"/>
          </a:xfrm>
          <a:prstGeom prst="rect">
            <a:avLst/>
          </a:prstGeom>
          <a:noFill/>
        </p:spPr>
        <p:txBody>
          <a:bodyPr wrap="square">
            <a:spAutoFit/>
          </a:bodyPr>
          <a:lstStyle/>
          <a:p>
            <a:pPr algn="ctr"/>
            <a:r>
              <a:rPr sz="2000" i="1">
                <a:solidFill>
                  <a:srgbClr val="34332C"/>
                </a:solidFill>
              </a:rPr>
              <a:t>“Kids Who Exercise” (운동하는 아이들)  ·  Music &amp; Lyrics by insung20402  ·  Created with Suno AI</a:t>
            </a:r>
          </a:p>
        </p:txBody>
      </p:sp>
      <p:sp>
        <p:nvSpPr>
          <p:cNvPr id="4" name="Rounded Rectangle 3"/>
          <p:cNvSpPr/>
          <p:nvPr/>
        </p:nvSpPr>
        <p:spPr>
          <a:xfrm>
            <a:off x="7300000" y="2450000"/>
            <a:ext cx="3700000" cy="1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00000" y="2570000"/>
            <a:ext cx="3700000" cy="350000"/>
          </a:xfrm>
          <a:prstGeom prst="rect">
            <a:avLst/>
          </a:prstGeom>
          <a:noFill/>
        </p:spPr>
        <p:txBody>
          <a:bodyPr wrap="none">
            <a:spAutoFit/>
          </a:bodyPr>
          <a:lstStyle/>
          <a:p>
            <a:pPr algn="ctr"/>
            <a:r>
              <a:rPr sz="1800" b="1">
                <a:solidFill>
                  <a:srgbClr val="34332C"/>
                </a:solidFill>
              </a:rPr>
              <a:t>▶ Click to Play the Song</a:t>
            </a:r>
          </a:p>
        </p:txBody>
      </p:sp>
      <p:pic>
        <p:nvPicPr>
          <p:cNvPr id="6" name="song.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700000" y="2930000"/>
            <a:ext cx="900000" cy="900000"/>
          </a:xfrm>
          <a:prstGeom prst="rect">
            <a:avLst/>
          </a:prstGeom>
        </p:spPr>
      </p:pic>
      <p:sp>
        <p:nvSpPr>
          <p:cNvPr id="7" name="Rounded Rectangle 6"/>
          <p:cNvSpPr/>
          <p:nvPr/>
        </p:nvSpPr>
        <p:spPr>
          <a:xfrm>
            <a:off x="2326029"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1</a:t>
            </a:r>
          </a:p>
          <a:p>
            <a:pPr>
              <a:lnSpc>
                <a:spcPct val="110000"/>
              </a:lnSpc>
            </a:pPr>
            <a:r>
              <a:rPr sz="1800">
                <a:solidFill>
                  <a:srgbClr val="34332C"/>
                </a:solidFill>
              </a:rPr>
              <a:t>Wake up early in the morning light</a:t>
            </a:r>
          </a:p>
          <a:p>
            <a:pPr>
              <a:lnSpc>
                <a:spcPct val="110000"/>
              </a:lnSpc>
            </a:pPr>
            <a:r>
              <a:rPr sz="1800">
                <a:solidFill>
                  <a:srgbClr val="34332C"/>
                </a:solidFill>
              </a:rPr>
              <a:t>I should eat some veggies, make it right</a:t>
            </a:r>
          </a:p>
          <a:p>
            <a:pPr>
              <a:lnSpc>
                <a:spcPct val="110000"/>
              </a:lnSpc>
            </a:pPr>
            <a:r>
              <a:rPr sz="1800">
                <a:solidFill>
                  <a:srgbClr val="34332C"/>
                </a:solidFill>
              </a:rPr>
              <a:t>No breakfast, no success,</a:t>
            </a:r>
          </a:p>
          <a:p>
            <a:pPr>
              <a:lnSpc>
                <a:spcPct val="110000"/>
              </a:lnSpc>
            </a:pPr>
            <a:r>
              <a:rPr sz="1800">
                <a:solidFill>
                  <a:srgbClr val="34332C"/>
                </a:solidFill>
              </a:rPr>
              <a:t>study's struggle nothing less</a:t>
            </a:r>
          </a:p>
          <a:p>
            <a:pPr>
              <a:lnSpc>
                <a:spcPct val="110000"/>
              </a:lnSpc>
            </a:pPr>
            <a:r>
              <a:rPr sz="1800">
                <a:solidFill>
                  <a:srgbClr val="34332C"/>
                </a:solidFill>
              </a:rPr>
              <a:t/>
            </a:r>
          </a:p>
          <a:p>
            <a:pPr>
              <a:lnSpc>
                <a:spcPct val="110000"/>
              </a:lnSpc>
              <a:spcBef>
                <a:spcPts val="1000"/>
              </a:spcBef>
            </a:pPr>
            <a:r>
              <a:rPr b="1" sz="2000">
                <a:solidFill>
                  <a:srgbClr val="C99A00"/>
                </a:solidFill>
              </a:rPr>
              <a:t>CHORUS</a:t>
            </a:r>
          </a:p>
          <a:p>
            <a:pPr>
              <a:lnSpc>
                <a:spcPct val="110000"/>
              </a:lnSpc>
            </a:pPr>
            <a:r>
              <a:rPr sz="1800">
                <a:solidFill>
                  <a:srgbClr val="34332C"/>
                </a:solidFill>
              </a:rPr>
              <a:t>Let's go take a walk outside</a:t>
            </a:r>
          </a:p>
          <a:p>
            <a:pPr>
              <a:lnSpc>
                <a:spcPct val="110000"/>
              </a:lnSpc>
            </a:pPr>
            <a:r>
              <a:rPr sz="1800">
                <a:solidFill>
                  <a:srgbClr val="34332C"/>
                </a:solidFill>
              </a:rPr>
              <a:t>Exercise every day, feel the pride</a:t>
            </a:r>
          </a:p>
          <a:p>
            <a:pPr>
              <a:lnSpc>
                <a:spcPct val="110000"/>
              </a:lnSpc>
            </a:pPr>
            <a:r>
              <a:rPr sz="1800">
                <a:solidFill>
                  <a:srgbClr val="34332C"/>
                </a:solidFill>
              </a:rPr>
              <a:t>Healthy habits make me strong</a:t>
            </a:r>
          </a:p>
          <a:p>
            <a:pPr>
              <a:lnSpc>
                <a:spcPct val="110000"/>
              </a:lnSpc>
            </a:pPr>
            <a:r>
              <a:rPr sz="1800">
                <a:solidFill>
                  <a:srgbClr val="34332C"/>
                </a:solidFill>
              </a:rPr>
              <a:t>Singing this happy morning song!</a:t>
            </a:r>
          </a:p>
        </p:txBody>
      </p:sp>
      <p:sp>
        <p:nvSpPr>
          <p:cNvPr id="8" name="Rounded Rectangle 7"/>
          <p:cNvSpPr/>
          <p:nvPr/>
        </p:nvSpPr>
        <p:spPr>
          <a:xfrm>
            <a:off x="10661971"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2</a:t>
            </a:r>
          </a:p>
          <a:p>
            <a:pPr>
              <a:lnSpc>
                <a:spcPct val="110000"/>
              </a:lnSpc>
            </a:pPr>
            <a:r>
              <a:rPr sz="1800">
                <a:solidFill>
                  <a:srgbClr val="34332C"/>
                </a:solidFill>
              </a:rPr>
              <a:t>I should move my body every day</a:t>
            </a:r>
          </a:p>
          <a:p>
            <a:pPr>
              <a:lnSpc>
                <a:spcPct val="110000"/>
              </a:lnSpc>
            </a:pPr>
            <a:r>
              <a:rPr sz="1800">
                <a:solidFill>
                  <a:srgbClr val="34332C"/>
                </a:solidFill>
              </a:rPr>
              <a:t>Eating a good breakfast is the way</a:t>
            </a:r>
          </a:p>
          <a:p>
            <a:pPr>
              <a:lnSpc>
                <a:spcPct val="110000"/>
              </a:lnSpc>
            </a:pPr>
            <a:r>
              <a:rPr sz="1800">
                <a:solidFill>
                  <a:srgbClr val="34332C"/>
                </a:solidFill>
              </a:rPr>
              <a:t>Let's jump and run under the sun</a:t>
            </a:r>
          </a:p>
          <a:p>
            <a:pPr>
              <a:lnSpc>
                <a:spcPct val="110000"/>
              </a:lnSpc>
            </a:pPr>
            <a:r>
              <a:rPr sz="1800">
                <a:solidFill>
                  <a:srgbClr val="34332C"/>
                </a:solidFill>
              </a:rPr>
              <a:t>Healthy life is so much fun!</a:t>
            </a:r>
          </a:p>
          <a:p>
            <a:pPr>
              <a:lnSpc>
                <a:spcPct val="110000"/>
              </a:lnSpc>
            </a:pPr>
            <a:r>
              <a:rPr sz="1800">
                <a:solidFill>
                  <a:srgbClr val="34332C"/>
                </a:solidFill>
              </a:rPr>
              <a:t/>
            </a:r>
          </a:p>
          <a:p>
            <a:pPr>
              <a:lnSpc>
                <a:spcPct val="110000"/>
              </a:lnSpc>
              <a:spcBef>
                <a:spcPts val="1000"/>
              </a:spcBef>
            </a:pPr>
            <a:r>
              <a:rPr b="1" sz="2000">
                <a:solidFill>
                  <a:srgbClr val="C99A00"/>
                </a:solidFill>
              </a:rPr>
              <a:t>BRIDGE</a:t>
            </a:r>
          </a:p>
          <a:p>
            <a:pPr>
              <a:lnSpc>
                <a:spcPct val="110000"/>
              </a:lnSpc>
            </a:pPr>
            <a:r>
              <a:rPr sz="1800">
                <a:solidFill>
                  <a:srgbClr val="34332C"/>
                </a:solidFill>
              </a:rPr>
              <a:t>Sometimes it is hard to do</a:t>
            </a:r>
          </a:p>
          <a:p>
            <a:pPr>
              <a:lnSpc>
                <a:spcPct val="110000"/>
              </a:lnSpc>
            </a:pPr>
            <a:r>
              <a:rPr sz="1800">
                <a:solidFill>
                  <a:srgbClr val="34332C"/>
                </a:solidFill>
              </a:rPr>
              <a:t>But it is good for me and you</a:t>
            </a:r>
          </a:p>
          <a:p>
            <a:pPr>
              <a:lnSpc>
                <a:spcPct val="110000"/>
              </a:lnSpc>
            </a:pPr>
            <a:r>
              <a:rPr sz="1800">
                <a:solidFill>
                  <a:srgbClr val="34332C"/>
                </a:solidFill>
              </a:rPr>
              <a:t>Step by step and day by day</a:t>
            </a:r>
          </a:p>
          <a:p>
            <a:pPr>
              <a:lnSpc>
                <a:spcPct val="110000"/>
              </a:lnSpc>
            </a:pPr>
            <a:r>
              <a:rPr sz="1800">
                <a:solidFill>
                  <a:srgbClr val="34332C"/>
                </a:solidFill>
              </a:rPr>
              <a:t>We can chase the lazy away!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blipFill>
            <a:blip>
              <a:extLst>
                <a:ext uri="{96DAC541-7B7A-43D3-8B79-37D633B846F1}">
                  <asvg:svgBlip xmlns:asvg="http://schemas.microsoft.com/office/drawing/2016/SVG/main" r:embed="rId2"/>
                </a:ext>
              </a:extLst>
            </a:blip>
            <a:stretch>
              <a:fillRect l="-17521" r="-11307"/>
            </a:stretch>
          </a:blip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blipFill>
              <a:blip r:embed="rId3"/>
              <a:stretch>
                <a:fillRect l="-2297" r="-2297"/>
              </a:stretch>
            </a:blipFill>
          </p:spPr>
          <p:txBody>
            <a:bodyPr/>
            <a:lstStyle/>
            <a:p>
              <a:endParaRPr lang="ko-KR" altLang="en-US"/>
            </a:p>
          </p:txBody>
        </p:sp>
      </p:grpSp>
      <p:sp>
        <p:nvSpPr>
          <p:cNvPr id="11" name="TextBox 11"/>
          <p:cNvSpPr txBox="1"/>
          <p:nvPr/>
        </p:nvSpPr>
        <p:spPr>
          <a:xfrm>
            <a:off x="5686082" y="1753642"/>
            <a:ext cx="6915837" cy="677108"/>
          </a:xfrm>
          <a:prstGeom prst="rect">
            <a:avLst/>
          </a:prstGeom>
        </p:spPr>
        <p:txBody>
          <a:bodyPr lIns="0" tIns="0" rIns="0" bIns="0" rtlCol="0" anchor="t">
            <a:spAutoFit/>
          </a:bodyPr>
          <a:lstStyle/>
          <a:p>
            <a:r>
              <a:rPr sz="4400" dirty="0"/>
              <a:t>Song Introduction</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rPr lang="en-US" dirty="0"/>
              <a:t>Lee </a:t>
            </a:r>
            <a:r>
              <a:rPr lang="en-US" dirty="0" err="1"/>
              <a:t>Insung</a:t>
            </a:r>
            <a:r>
              <a:rPr lang="en-US" dirty="0"/>
              <a:t> and Friends</a:t>
            </a:r>
          </a:p>
        </p:txBody>
      </p:sp>
      <p:sp>
        <p:nvSpPr>
          <p:cNvPr id="13" name="TextBox 13"/>
          <p:cNvSpPr txBox="1"/>
          <p:nvPr/>
        </p:nvSpPr>
        <p:spPr>
          <a:xfrm>
            <a:off x="7863156" y="5350779"/>
            <a:ext cx="7485100" cy="2788601"/>
          </a:xfrm>
          <a:prstGeom prst="rect">
            <a:avLst/>
          </a:prstGeom>
        </p:spPr>
        <p:txBody>
          <a:bodyPr lIns="0" tIns="0" rIns="0" bIns="0" rtlCol="0" anchor="t">
            <a:spAutoFit/>
          </a:bodyPr>
          <a:lstStyle/>
          <a:p>
            <a:r>
              <a:t>This song is about exercise. It uses a strong warning message to make people move. The message is, 'If you do not move, tomorrow will be worse.' It shows why exercise is important.</a:t>
            </a:r>
          </a:p>
          <a:p>
            <a:r>
              <a:t>Exercise helps our body and mind. It improves fitness, mental health, and daily life. Please think about the importance of exercise with this song.</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68423"/>
            <a:ext cx="6911789" cy="677108"/>
          </a:xfrm>
          <a:prstGeom prst="rect">
            <a:avLst/>
          </a:prstGeom>
        </p:spPr>
        <p:txBody>
          <a:bodyPr lIns="0" tIns="0" rIns="0" bIns="0" rtlCol="0" anchor="t">
            <a:spAutoFit/>
          </a:bodyPr>
          <a:lstStyle/>
          <a:p>
            <a:r>
              <a:rPr sz="2200"/>
              <a:t>It gives motivation for exercise through a strong warning message.</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blipFill>
            <a:blip>
              <a:extLst>
                <a:ext uri="{96DAC541-7B7A-43D3-8B79-37D633B846F1}">
                  <asvg:svgBlip xmlns:asvg="http://schemas.microsoft.com/office/drawing/2016/SVG/main" r:embed="rId2"/>
                </a:ext>
              </a:extLst>
            </a:blip>
            <a:stretch>
              <a:fillRect l="-17521" r="-11307"/>
            </a:stretch>
          </a:blipFill>
        </p:spPr>
        <p:txBody>
          <a:bodyPr/>
          <a:lstStyle/>
          <a:p>
            <a:endParaRPr/>
          </a:p>
        </p:txBody>
      </p:sp>
      <p:grpSp>
        <p:nvGrpSpPr>
          <p:cNvPr id="6" name="Group 6"/>
          <p:cNvGrpSpPr/>
          <p:nvPr/>
        </p:nvGrpSpPr>
        <p:grpSpPr>
          <a:xfrm>
            <a:off x="6027824" y="3546661"/>
            <a:ext cx="10075516" cy="868643"/>
            <a:chOff x="0" y="0"/>
            <a:chExt cx="2361775" cy="203616"/>
          </a:xfrm>
        </p:grpSpPr>
        <p:sp>
          <p:nvSpPr>
            <p:cNvPr id="7" name="Freeform 7"/>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6027824" y="4802980"/>
            <a:ext cx="10075516" cy="868643"/>
            <a:chOff x="0" y="0"/>
            <a:chExt cx="2361775" cy="203616"/>
          </a:xfrm>
        </p:grpSpPr>
        <p:sp>
          <p:nvSpPr>
            <p:cNvPr id="10" name="Freeform 10"/>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6027824" y="6062149"/>
            <a:ext cx="10075516" cy="868643"/>
            <a:chOff x="0" y="0"/>
            <a:chExt cx="2361775" cy="203616"/>
          </a:xfrm>
        </p:grpSpPr>
        <p:sp>
          <p:nvSpPr>
            <p:cNvPr id="13" name="Freeform 13"/>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AutoShape 15"/>
          <p:cNvSpPr/>
          <p:nvPr/>
        </p:nvSpPr>
        <p:spPr>
          <a:xfrm>
            <a:off x="6329547" y="378914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6" name="AutoShape 16"/>
          <p:cNvSpPr/>
          <p:nvPr/>
        </p:nvSpPr>
        <p:spPr>
          <a:xfrm>
            <a:off x="6329547" y="504546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7" name="AutoShape 17"/>
          <p:cNvSpPr/>
          <p:nvPr/>
        </p:nvSpPr>
        <p:spPr>
          <a:xfrm>
            <a:off x="6329547" y="6304637"/>
            <a:ext cx="0" cy="383667"/>
          </a:xfrm>
          <a:prstGeom prst="line">
            <a:avLst/>
          </a:prstGeom>
          <a:ln w="47625" cap="flat">
            <a:solidFill>
              <a:srgbClr val="FFDF60"/>
            </a:solidFill>
            <a:prstDash val="solid"/>
            <a:headEnd type="none" w="sm" len="sm"/>
            <a:tailEnd type="none" w="sm" len="sm"/>
          </a:ln>
        </p:spPr>
        <p:txBody>
          <a:bodyPr/>
          <a:lstStyle/>
          <a:p>
            <a:endParaRPr/>
          </a:p>
        </p:txBody>
      </p:sp>
      <p:grpSp>
        <p:nvGrpSpPr>
          <p:cNvPr id="18" name="Group 18"/>
          <p:cNvGrpSpPr/>
          <p:nvPr/>
        </p:nvGrpSpPr>
        <p:grpSpPr>
          <a:xfrm>
            <a:off x="2184660" y="7321317"/>
            <a:ext cx="13918679" cy="1347850"/>
            <a:chOff x="0" y="0"/>
            <a:chExt cx="3262641" cy="315946"/>
          </a:xfrm>
        </p:grpSpPr>
        <p:sp>
          <p:nvSpPr>
            <p:cNvPr id="19" name="Freeform 19"/>
            <p:cNvSpPr/>
            <p:nvPr/>
          </p:nvSpPr>
          <p:spPr>
            <a:xfrm>
              <a:off x="0" y="0"/>
              <a:ext cx="3262641" cy="315946"/>
            </a:xfrm>
            <a:custGeom>
              <a:avLst/>
              <a:gdLst/>
              <a:ahLst/>
              <a:cxnLst/>
              <a:rect l="l" t="t" r="r" b="b"/>
              <a:pathLst>
                <a:path w="3262641" h="315946">
                  <a:moveTo>
                    <a:pt x="0" y="0"/>
                  </a:moveTo>
                  <a:lnTo>
                    <a:pt x="3262641" y="0"/>
                  </a:lnTo>
                  <a:lnTo>
                    <a:pt x="3262641" y="315946"/>
                  </a:lnTo>
                  <a:lnTo>
                    <a:pt x="0" y="315946"/>
                  </a:lnTo>
                  <a:close/>
                </a:path>
              </a:pathLst>
            </a:custGeom>
            <a:solidFill>
              <a:srgbClr val="FFF8DE"/>
            </a:solidFill>
            <a:ln w="19050" cap="sq">
              <a:solidFill>
                <a:srgbClr val="34332C"/>
              </a:solidFill>
              <a:prstDash val="solid"/>
              <a:miter/>
            </a:ln>
          </p:spPr>
          <p:txBody>
            <a:bodyPr/>
            <a:lstStyle/>
            <a:p>
              <a:endParaRPr lang="ko-KR" altLang="en-US"/>
            </a:p>
          </p:txBody>
        </p:sp>
        <p:sp>
          <p:nvSpPr>
            <p:cNvPr id="20" name="TextBox 20"/>
            <p:cNvSpPr txBox="1"/>
            <p:nvPr/>
          </p:nvSpPr>
          <p:spPr>
            <a:xfrm>
              <a:off x="0" y="-47625"/>
              <a:ext cx="3262641" cy="36357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2184660" y="3546661"/>
            <a:ext cx="3595513" cy="3384131"/>
            <a:chOff x="0" y="0"/>
            <a:chExt cx="557039" cy="524291"/>
          </a:xfrm>
        </p:grpSpPr>
        <p:sp>
          <p:nvSpPr>
            <p:cNvPr id="22" name="Freeform 22"/>
            <p:cNvSpPr/>
            <p:nvPr/>
          </p:nvSpPr>
          <p:spPr>
            <a:xfrm>
              <a:off x="0" y="0"/>
              <a:ext cx="557039" cy="524291"/>
            </a:xfrm>
            <a:custGeom>
              <a:avLst/>
              <a:gdLst/>
              <a:ahLst/>
              <a:cxnLst/>
              <a:rect l="l" t="t" r="r" b="b"/>
              <a:pathLst>
                <a:path w="557039" h="524291">
                  <a:moveTo>
                    <a:pt x="0" y="0"/>
                  </a:moveTo>
                  <a:lnTo>
                    <a:pt x="557039" y="0"/>
                  </a:lnTo>
                  <a:lnTo>
                    <a:pt x="557039" y="524291"/>
                  </a:lnTo>
                  <a:lnTo>
                    <a:pt x="0" y="524291"/>
                  </a:lnTo>
                  <a:close/>
                </a:path>
              </a:pathLst>
            </a:custGeom>
            <a:blipFill>
              <a:blip r:embed="rId3"/>
              <a:stretch>
                <a:fillRect t="-3123" b="-3123"/>
              </a:stretch>
            </a:blipFill>
          </p:spPr>
          <p:txBody>
            <a:bodyPr/>
            <a:lstStyle/>
            <a:p>
              <a:endParaRPr lang="ko-KR" altLang="en-US"/>
            </a:p>
          </p:txBody>
        </p:sp>
      </p:grpSp>
      <p:sp>
        <p:nvSpPr>
          <p:cNvPr id="23" name="TextBox 23"/>
          <p:cNvSpPr txBox="1"/>
          <p:nvPr/>
        </p:nvSpPr>
        <p:spPr>
          <a:xfrm>
            <a:off x="4614515" y="1782217"/>
            <a:ext cx="9058971" cy="430887"/>
          </a:xfrm>
          <a:prstGeom prst="rect">
            <a:avLst/>
          </a:prstGeom>
        </p:spPr>
        <p:txBody>
          <a:bodyPr lIns="0" tIns="0" rIns="0" bIns="0" rtlCol="0" anchor="t">
            <a:spAutoFit/>
          </a:bodyPr>
          <a:lstStyle/>
          <a:p>
            <a:r>
              <a:rPr sz="2800" dirty="0"/>
              <a:t>Meaning and Examples of Strong Warning Messages</a:t>
            </a:r>
          </a:p>
        </p:txBody>
      </p:sp>
      <p:sp>
        <p:nvSpPr>
          <p:cNvPr id="25" name="TextBox 25"/>
          <p:cNvSpPr txBox="1"/>
          <p:nvPr/>
        </p:nvSpPr>
        <p:spPr>
          <a:xfrm>
            <a:off x="6601135" y="3682468"/>
            <a:ext cx="9383963" cy="738664"/>
          </a:xfrm>
          <a:prstGeom prst="rect">
            <a:avLst/>
          </a:prstGeom>
        </p:spPr>
        <p:txBody>
          <a:bodyPr lIns="0" tIns="0" rIns="0" bIns="0" rtlCol="0" anchor="t">
            <a:spAutoFit/>
          </a:bodyPr>
          <a:lstStyle/>
          <a:p>
            <a:r>
              <a:rPr sz="2400" dirty="0"/>
              <a:t>"If you do not move, tomorrow will be worse" — A message that leads people to act</a:t>
            </a:r>
          </a:p>
        </p:txBody>
      </p:sp>
      <p:sp>
        <p:nvSpPr>
          <p:cNvPr id="26" name="TextBox 26"/>
          <p:cNvSpPr txBox="1"/>
          <p:nvPr/>
        </p:nvSpPr>
        <p:spPr>
          <a:xfrm>
            <a:off x="6601135" y="4938788"/>
            <a:ext cx="9383963" cy="369332"/>
          </a:xfrm>
          <a:prstGeom prst="rect">
            <a:avLst/>
          </a:prstGeom>
        </p:spPr>
        <p:txBody>
          <a:bodyPr lIns="0" tIns="0" rIns="0" bIns="0" rtlCol="0" anchor="t">
            <a:spAutoFit/>
          </a:bodyPr>
          <a:lstStyle/>
          <a:p>
            <a:r>
              <a:rPr sz="2400"/>
              <a:t>What happens without exercise: low fitness, low energy, and poor health</a:t>
            </a:r>
          </a:p>
        </p:txBody>
      </p:sp>
      <p:sp>
        <p:nvSpPr>
          <p:cNvPr id="27" name="TextBox 27"/>
          <p:cNvSpPr txBox="1"/>
          <p:nvPr/>
        </p:nvSpPr>
        <p:spPr>
          <a:xfrm>
            <a:off x="6601135" y="6197957"/>
            <a:ext cx="9383963" cy="369332"/>
          </a:xfrm>
          <a:prstGeom prst="rect">
            <a:avLst/>
          </a:prstGeom>
        </p:spPr>
        <p:txBody>
          <a:bodyPr lIns="0" tIns="0" rIns="0" bIns="0" rtlCol="0" anchor="t">
            <a:spAutoFit/>
          </a:bodyPr>
          <a:lstStyle/>
          <a:p>
            <a:r>
              <a:rPr sz="2400"/>
              <a:t>No Exercise vs Exercise — A clear contrast that gives motivation</a:t>
            </a:r>
          </a:p>
        </p:txBody>
      </p:sp>
      <p:sp>
        <p:nvSpPr>
          <p:cNvPr id="28" name="TextBox 28"/>
          <p:cNvSpPr txBox="1"/>
          <p:nvPr/>
        </p:nvSpPr>
        <p:spPr>
          <a:xfrm>
            <a:off x="2600659" y="7562997"/>
            <a:ext cx="13086682" cy="738664"/>
          </a:xfrm>
          <a:prstGeom prst="rect">
            <a:avLst/>
          </a:prstGeom>
        </p:spPr>
        <p:txBody>
          <a:bodyPr lIns="0" tIns="0" rIns="0" bIns="0" rtlCol="0" anchor="t">
            <a:spAutoFit/>
          </a:bodyPr>
          <a:lstStyle/>
          <a:p>
            <a:r>
              <a:rPr sz="2400"/>
              <a:t>A strong warning message can make people act by showing a real problem. The message, 'Move now or your future will be worse,' shows why exercise is needed.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14601" y="330942"/>
            <a:ext cx="1541172" cy="2250601"/>
          </a:xfrm>
          <a:custGeom>
            <a:avLst/>
            <a:gdLst/>
            <a:ahLst/>
            <a:cxnLst/>
            <a:rect l="l" t="t" r="r" b="b"/>
            <a:pathLst>
              <a:path w="1541172" h="2250601">
                <a:moveTo>
                  <a:pt x="0" y="0"/>
                </a:moveTo>
                <a:lnTo>
                  <a:pt x="1541173" y="0"/>
                </a:lnTo>
                <a:lnTo>
                  <a:pt x="1541173" y="2250601"/>
                </a:lnTo>
                <a:lnTo>
                  <a:pt x="0" y="2250601"/>
                </a:lnTo>
                <a:lnTo>
                  <a:pt x="0" y="0"/>
                </a:lnTo>
                <a:close/>
              </a:path>
            </a:pathLst>
          </a:custGeom>
          <a:blipFill>
            <a:blip r:embed="rId2"/>
            <a:stretch>
              <a:fillRect/>
            </a:stretch>
          </a:blipFill>
        </p:spPr>
        <p:txBody>
          <a:bodyPr/>
          <a:lstStyle/>
          <a:p>
            <a:endParaRPr/>
          </a:p>
        </p:txBody>
      </p:sp>
      <p:grpSp>
        <p:nvGrpSpPr>
          <p:cNvPr id="6" name="Group 6"/>
          <p:cNvGrpSpPr/>
          <p:nvPr/>
        </p:nvGrpSpPr>
        <p:grpSpPr>
          <a:xfrm>
            <a:off x="2018815" y="4736334"/>
            <a:ext cx="4585023" cy="3322162"/>
            <a:chOff x="0" y="0"/>
            <a:chExt cx="1074763" cy="778739"/>
          </a:xfrm>
        </p:grpSpPr>
        <p:sp>
          <p:nvSpPr>
            <p:cNvPr id="7" name="Freeform 7"/>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6851488" y="4736334"/>
            <a:ext cx="4585023" cy="3322162"/>
            <a:chOff x="0" y="0"/>
            <a:chExt cx="1074763" cy="778739"/>
          </a:xfrm>
        </p:grpSpPr>
        <p:sp>
          <p:nvSpPr>
            <p:cNvPr id="10" name="Freeform 10"/>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12" name="Group 12"/>
          <p:cNvGrpSpPr/>
          <p:nvPr/>
        </p:nvGrpSpPr>
        <p:grpSpPr>
          <a:xfrm>
            <a:off x="11684162" y="4736334"/>
            <a:ext cx="4585023" cy="3322162"/>
            <a:chOff x="0" y="0"/>
            <a:chExt cx="1074763" cy="778739"/>
          </a:xfrm>
        </p:grpSpPr>
        <p:sp>
          <p:nvSpPr>
            <p:cNvPr id="13" name="Freeform 13"/>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sp>
        <p:nvSpPr>
          <p:cNvPr id="15" name="TextBox 15"/>
          <p:cNvSpPr txBox="1"/>
          <p:nvPr/>
        </p:nvSpPr>
        <p:spPr>
          <a:xfrm>
            <a:off x="5686082" y="1753642"/>
            <a:ext cx="6915837" cy="1193478"/>
          </a:xfrm>
          <a:prstGeom prst="rect">
            <a:avLst/>
          </a:prstGeom>
        </p:spPr>
        <p:txBody>
          <a:bodyPr lIns="0" tIns="0" rIns="0" bIns="0" rtlCol="0" anchor="t">
            <a:spAutoFit/>
          </a:bodyPr>
          <a:lstStyle/>
          <a:p>
            <a:r>
              <a:t>Negative Effects</a:t>
            </a:r>
          </a:p>
        </p:txBody>
      </p:sp>
      <p:sp>
        <p:nvSpPr>
          <p:cNvPr id="16" name="TextBox 16"/>
          <p:cNvSpPr txBox="1"/>
          <p:nvPr/>
        </p:nvSpPr>
        <p:spPr>
          <a:xfrm>
            <a:off x="12534316" y="1515310"/>
            <a:ext cx="4039366" cy="365714"/>
          </a:xfrm>
          <a:prstGeom prst="rect">
            <a:avLst/>
          </a:prstGeom>
        </p:spPr>
        <p:txBody>
          <a:bodyPr lIns="0" tIns="0" rIns="0" bIns="0" rtlCol="0" anchor="t">
            <a:spAutoFit/>
          </a:bodyPr>
          <a:lstStyle/>
          <a:p>
            <a:r>
              <a:t>Song Topic Presentation - Lee Insung and Friends</a:t>
            </a:r>
          </a:p>
        </p:txBody>
      </p:sp>
      <p:sp>
        <p:nvSpPr>
          <p:cNvPr id="17" name="TextBox 17"/>
          <p:cNvSpPr txBox="1"/>
          <p:nvPr/>
        </p:nvSpPr>
        <p:spPr>
          <a:xfrm>
            <a:off x="2351370" y="6422374"/>
            <a:ext cx="3919913" cy="1108664"/>
          </a:xfrm>
          <a:prstGeom prst="rect">
            <a:avLst/>
          </a:prstGeom>
        </p:spPr>
        <p:txBody>
          <a:bodyPr lIns="0" tIns="0" rIns="0" bIns="0" rtlCol="0" anchor="t">
            <a:spAutoFit/>
          </a:bodyPr>
          <a:lstStyle/>
          <a:p>
            <a:r>
              <a:t>Lack of exercise makes muscles and heart health weaker. It also increases the risk of obesity, diabetes, and heart disease.</a:t>
            </a:r>
          </a:p>
        </p:txBody>
      </p:sp>
      <p:sp>
        <p:nvSpPr>
          <p:cNvPr id="18" name="TextBox 18"/>
          <p:cNvSpPr txBox="1"/>
          <p:nvPr/>
        </p:nvSpPr>
        <p:spPr>
          <a:xfrm>
            <a:off x="7184044" y="6422374"/>
            <a:ext cx="3919913" cy="1108664"/>
          </a:xfrm>
          <a:prstGeom prst="rect">
            <a:avLst/>
          </a:prstGeom>
        </p:spPr>
        <p:txBody>
          <a:bodyPr lIns="0" tIns="0" rIns="0" bIns="0" rtlCol="0" anchor="t">
            <a:spAutoFit/>
          </a:bodyPr>
          <a:lstStyle/>
          <a:p>
            <a:r>
              <a:t>Not being active can increase stress, anxiety, and sadness. It can also reduce sleep quality.</a:t>
            </a:r>
          </a:p>
        </p:txBody>
      </p:sp>
      <p:sp>
        <p:nvSpPr>
          <p:cNvPr id="19" name="TextBox 19"/>
          <p:cNvSpPr txBox="1"/>
          <p:nvPr/>
        </p:nvSpPr>
        <p:spPr>
          <a:xfrm>
            <a:off x="12016717" y="6422374"/>
            <a:ext cx="3919913" cy="1108664"/>
          </a:xfrm>
          <a:prstGeom prst="rect">
            <a:avLst/>
          </a:prstGeom>
        </p:spPr>
        <p:txBody>
          <a:bodyPr lIns="0" tIns="0" rIns="0" bIns="0" rtlCol="0" anchor="t">
            <a:spAutoFit/>
          </a:bodyPr>
          <a:lstStyle/>
          <a:p>
            <a:r>
              <a:t>People may feel tired, lose focus, and enjoy daily life less.</a:t>
            </a:r>
          </a:p>
        </p:txBody>
      </p:sp>
      <p:grpSp>
        <p:nvGrpSpPr>
          <p:cNvPr id="20" name="Group 20"/>
          <p:cNvGrpSpPr/>
          <p:nvPr/>
        </p:nvGrpSpPr>
        <p:grpSpPr>
          <a:xfrm>
            <a:off x="2351370" y="5167366"/>
            <a:ext cx="3919913" cy="868643"/>
            <a:chOff x="0" y="0"/>
            <a:chExt cx="918857" cy="203616"/>
          </a:xfrm>
        </p:grpSpPr>
        <p:sp>
          <p:nvSpPr>
            <p:cNvPr id="21" name="Freeform 21"/>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2" name="TextBox 22"/>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7184044" y="5167366"/>
            <a:ext cx="3919913" cy="868643"/>
            <a:chOff x="0" y="0"/>
            <a:chExt cx="918857" cy="203616"/>
          </a:xfrm>
        </p:grpSpPr>
        <p:sp>
          <p:nvSpPr>
            <p:cNvPr id="24" name="Freeform 24"/>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5" name="TextBox 25"/>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12016717" y="5167366"/>
            <a:ext cx="3919913" cy="868643"/>
            <a:chOff x="0" y="0"/>
            <a:chExt cx="918857" cy="203616"/>
          </a:xfrm>
        </p:grpSpPr>
        <p:sp>
          <p:nvSpPr>
            <p:cNvPr id="27" name="Freeform 27"/>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8" name="TextBox 28"/>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9" name="TextBox 29"/>
          <p:cNvSpPr txBox="1"/>
          <p:nvPr/>
        </p:nvSpPr>
        <p:spPr>
          <a:xfrm>
            <a:off x="2924682" y="5312699"/>
            <a:ext cx="3346601" cy="397379"/>
          </a:xfrm>
          <a:prstGeom prst="rect">
            <a:avLst/>
          </a:prstGeom>
        </p:spPr>
        <p:txBody>
          <a:bodyPr lIns="0" tIns="0" rIns="0" bIns="0" rtlCol="0" anchor="t">
            <a:spAutoFit/>
          </a:bodyPr>
          <a:lstStyle/>
          <a:p>
            <a:r>
              <a:t>Low Fitness and Disease Risk</a:t>
            </a:r>
          </a:p>
        </p:txBody>
      </p:sp>
      <p:sp>
        <p:nvSpPr>
          <p:cNvPr id="30" name="TextBox 30"/>
          <p:cNvSpPr txBox="1"/>
          <p:nvPr/>
        </p:nvSpPr>
        <p:spPr>
          <a:xfrm>
            <a:off x="7757355" y="5312699"/>
            <a:ext cx="3346601" cy="397379"/>
          </a:xfrm>
          <a:prstGeom prst="rect">
            <a:avLst/>
          </a:prstGeom>
        </p:spPr>
        <p:txBody>
          <a:bodyPr lIns="0" tIns="0" rIns="0" bIns="0" rtlCol="0" anchor="t">
            <a:spAutoFit/>
          </a:bodyPr>
          <a:lstStyle/>
          <a:p>
            <a:r>
              <a:t>Worse Mental Health</a:t>
            </a:r>
          </a:p>
        </p:txBody>
      </p:sp>
      <p:sp>
        <p:nvSpPr>
          <p:cNvPr id="31" name="TextBox 31"/>
          <p:cNvSpPr txBox="1"/>
          <p:nvPr/>
        </p:nvSpPr>
        <p:spPr>
          <a:xfrm>
            <a:off x="12590028" y="5312699"/>
            <a:ext cx="3346601" cy="397379"/>
          </a:xfrm>
          <a:prstGeom prst="rect">
            <a:avLst/>
          </a:prstGeom>
        </p:spPr>
        <p:txBody>
          <a:bodyPr lIns="0" tIns="0" rIns="0" bIns="0" rtlCol="0" anchor="t">
            <a:spAutoFit/>
          </a:bodyPr>
          <a:lstStyle/>
          <a:p>
            <a:r>
              <a:t>Lower Quality of Life</a:t>
            </a:r>
          </a:p>
        </p:txBody>
      </p:sp>
      <p:sp>
        <p:nvSpPr>
          <p:cNvPr id="32" name="AutoShape 32"/>
          <p:cNvSpPr/>
          <p:nvPr/>
        </p:nvSpPr>
        <p:spPr>
          <a:xfrm>
            <a:off x="2653094"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3" name="AutoShape 33"/>
          <p:cNvSpPr/>
          <p:nvPr/>
        </p:nvSpPr>
        <p:spPr>
          <a:xfrm>
            <a:off x="7485767"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4" name="AutoShape 34"/>
          <p:cNvSpPr/>
          <p:nvPr/>
        </p:nvSpPr>
        <p:spPr>
          <a:xfrm>
            <a:off x="12318441"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5" name="TextBox 35"/>
          <p:cNvSpPr txBox="1"/>
          <p:nvPr/>
        </p:nvSpPr>
        <p:spPr>
          <a:xfrm>
            <a:off x="2018815" y="3491301"/>
            <a:ext cx="14250370" cy="397379"/>
          </a:xfrm>
          <a:prstGeom prst="rect">
            <a:avLst/>
          </a:prstGeom>
        </p:spPr>
        <p:txBody>
          <a:bodyPr lIns="0" tIns="0" rIns="0" bIns="0" rtlCol="0" anchor="t">
            <a:spAutoFit/>
          </a:bodyPr>
          <a:lstStyle/>
          <a:p>
            <a:r>
              <a:t>Lack of exercise has serious effects on health and daily life.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blipFill>
            <a:blip>
              <a:extLst>
                <a:ext uri="{96DAC541-7B7A-43D3-8B79-37D633B846F1}">
                  <asvg:svgBlip xmlns:asvg="http://schemas.microsoft.com/office/drawing/2016/SVG/main" r:embed="rId2"/>
                </a:ext>
              </a:extLst>
            </a:blip>
            <a:stretch>
              <a:fillRect l="-17521" r="-11307"/>
            </a:stretch>
          </a:blipFill>
        </p:spPr>
        <p:txBody>
          <a:bodyPr/>
          <a:lstStyle/>
          <a:p>
            <a:endParaRPr/>
          </a:p>
        </p:txBody>
      </p:sp>
      <p:grpSp>
        <p:nvGrpSpPr>
          <p:cNvPr id="6" name="Group 6"/>
          <p:cNvGrpSpPr/>
          <p:nvPr/>
        </p:nvGrpSpPr>
        <p:grpSpPr>
          <a:xfrm>
            <a:off x="2104549" y="3457979"/>
            <a:ext cx="3347304" cy="4962768"/>
            <a:chOff x="0" y="0"/>
            <a:chExt cx="784633" cy="1163310"/>
          </a:xfrm>
        </p:grpSpPr>
        <p:sp>
          <p:nvSpPr>
            <p:cNvPr id="7" name="Freeform 7"/>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5686082" y="3457979"/>
            <a:ext cx="3347304" cy="4962768"/>
            <a:chOff x="0" y="0"/>
            <a:chExt cx="784633" cy="1163310"/>
          </a:xfrm>
        </p:grpSpPr>
        <p:sp>
          <p:nvSpPr>
            <p:cNvPr id="10" name="Freeform 10"/>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9271510" y="3457979"/>
            <a:ext cx="3347304" cy="4962768"/>
            <a:chOff x="0" y="0"/>
            <a:chExt cx="784633" cy="1163310"/>
          </a:xfrm>
        </p:grpSpPr>
        <p:sp>
          <p:nvSpPr>
            <p:cNvPr id="13" name="Freeform 13"/>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12856939" y="3457979"/>
            <a:ext cx="3347304" cy="4962768"/>
            <a:chOff x="0" y="0"/>
            <a:chExt cx="784633" cy="1163310"/>
          </a:xfrm>
        </p:grpSpPr>
        <p:sp>
          <p:nvSpPr>
            <p:cNvPr id="16" name="Freeform 16"/>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7" name="TextBox 17"/>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6" name="AutoShape 26"/>
          <p:cNvSpPr/>
          <p:nvPr/>
        </p:nvSpPr>
        <p:spPr>
          <a:xfrm>
            <a:off x="3607853"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7" name="AutoShape 27"/>
          <p:cNvSpPr/>
          <p:nvPr/>
        </p:nvSpPr>
        <p:spPr>
          <a:xfrm>
            <a:off x="7189385"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8" name="AutoShape 28"/>
          <p:cNvSpPr/>
          <p:nvPr/>
        </p:nvSpPr>
        <p:spPr>
          <a:xfrm>
            <a:off x="10774814"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9" name="AutoShape 29"/>
          <p:cNvSpPr/>
          <p:nvPr/>
        </p:nvSpPr>
        <p:spPr>
          <a:xfrm>
            <a:off x="14360242"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0" name="TextBox 30"/>
          <p:cNvSpPr txBox="1"/>
          <p:nvPr/>
        </p:nvSpPr>
        <p:spPr>
          <a:xfrm>
            <a:off x="5686082" y="1753642"/>
            <a:ext cx="6915837" cy="492443"/>
          </a:xfrm>
          <a:prstGeom prst="rect">
            <a:avLst/>
          </a:prstGeom>
        </p:spPr>
        <p:txBody>
          <a:bodyPr lIns="0" tIns="0" rIns="0" bIns="0" rtlCol="0" anchor="t">
            <a:spAutoFit/>
          </a:bodyPr>
          <a:lstStyle/>
          <a:p>
            <a:r>
              <a:rPr sz="3200" dirty="0"/>
              <a:t>Team Members</a:t>
            </a:r>
          </a:p>
        </p:txBody>
      </p:sp>
      <p:sp>
        <p:nvSpPr>
          <p:cNvPr id="31" name="TextBox 31"/>
          <p:cNvSpPr txBox="1"/>
          <p:nvPr/>
        </p:nvSpPr>
        <p:spPr>
          <a:xfrm>
            <a:off x="12534316" y="1534360"/>
            <a:ext cx="4039366" cy="362950"/>
          </a:xfrm>
          <a:prstGeom prst="rect">
            <a:avLst/>
          </a:prstGeom>
        </p:spPr>
        <p:txBody>
          <a:bodyPr lIns="0" tIns="0" rIns="0" bIns="0" rtlCol="0" anchor="t">
            <a:spAutoFit/>
          </a:bodyPr>
          <a:lstStyle/>
          <a:p>
            <a:r>
              <a:t>Lee Insung and Friends</a:t>
            </a:r>
          </a:p>
        </p:txBody>
      </p:sp>
      <p:sp>
        <p:nvSpPr>
          <p:cNvPr id="32" name="TextBox 32"/>
          <p:cNvSpPr txBox="1"/>
          <p:nvPr/>
        </p:nvSpPr>
        <p:spPr>
          <a:xfrm>
            <a:off x="2399274" y="6122328"/>
            <a:ext cx="1103051" cy="520910"/>
          </a:xfrm>
          <a:prstGeom prst="rect">
            <a:avLst/>
          </a:prstGeom>
        </p:spPr>
        <p:txBody>
          <a:bodyPr lIns="0" tIns="0" rIns="0" bIns="0" rtlCol="0" anchor="t">
            <a:spAutoFit/>
          </a:bodyPr>
          <a:lstStyle/>
          <a:p>
            <a:r>
              <a:t>Lee Minjae</a:t>
            </a:r>
          </a:p>
        </p:txBody>
      </p:sp>
      <p:sp>
        <p:nvSpPr>
          <p:cNvPr id="33" name="TextBox 33"/>
          <p:cNvSpPr txBox="1"/>
          <p:nvPr/>
        </p:nvSpPr>
        <p:spPr>
          <a:xfrm>
            <a:off x="5980807" y="6122328"/>
            <a:ext cx="1103051" cy="520910"/>
          </a:xfrm>
          <a:prstGeom prst="rect">
            <a:avLst/>
          </a:prstGeom>
        </p:spPr>
        <p:txBody>
          <a:bodyPr lIns="0" tIns="0" rIns="0" bIns="0" rtlCol="0" anchor="t">
            <a:spAutoFit/>
          </a:bodyPr>
          <a:lstStyle/>
          <a:p>
            <a:r>
              <a:t>Lee Yeongu</a:t>
            </a:r>
          </a:p>
        </p:txBody>
      </p:sp>
      <p:sp>
        <p:nvSpPr>
          <p:cNvPr id="34" name="TextBox 34"/>
          <p:cNvSpPr txBox="1"/>
          <p:nvPr/>
        </p:nvSpPr>
        <p:spPr>
          <a:xfrm>
            <a:off x="9566235" y="6122328"/>
            <a:ext cx="1103051" cy="520910"/>
          </a:xfrm>
          <a:prstGeom prst="rect">
            <a:avLst/>
          </a:prstGeom>
        </p:spPr>
        <p:txBody>
          <a:bodyPr lIns="0" tIns="0" rIns="0" bIns="0" rtlCol="0" anchor="t">
            <a:spAutoFit/>
          </a:bodyPr>
          <a:lstStyle/>
          <a:p>
            <a:r>
              <a:t>Lee Insung</a:t>
            </a:r>
          </a:p>
        </p:txBody>
      </p:sp>
      <p:sp>
        <p:nvSpPr>
          <p:cNvPr id="35" name="TextBox 35"/>
          <p:cNvSpPr txBox="1"/>
          <p:nvPr/>
        </p:nvSpPr>
        <p:spPr>
          <a:xfrm>
            <a:off x="13151664" y="6122328"/>
            <a:ext cx="1103051" cy="520910"/>
          </a:xfrm>
          <a:prstGeom prst="rect">
            <a:avLst/>
          </a:prstGeom>
        </p:spPr>
        <p:txBody>
          <a:bodyPr lIns="0" tIns="0" rIns="0" bIns="0" rtlCol="0" anchor="t">
            <a:spAutoFit/>
          </a:bodyPr>
          <a:lstStyle/>
          <a:p>
            <a:r>
              <a:t>Lee Hayul</a:t>
            </a:r>
          </a:p>
        </p:txBody>
      </p:sp>
      <p:sp>
        <p:nvSpPr>
          <p:cNvPr id="36" name="TextBox 36"/>
          <p:cNvSpPr txBox="1"/>
          <p:nvPr/>
        </p:nvSpPr>
        <p:spPr>
          <a:xfrm>
            <a:off x="7240162" y="6040339"/>
            <a:ext cx="1319056" cy="342444"/>
          </a:xfrm>
          <a:prstGeom prst="rect">
            <a:avLst/>
          </a:prstGeom>
        </p:spPr>
        <p:txBody>
          <a:bodyPr lIns="0" tIns="0" rIns="0" bIns="0" rtlCol="0" anchor="t">
            <a:spAutoFit/>
          </a:bodyPr>
          <a:lstStyle/>
          <a:p>
            <a:r>
              <a:rPr dirty="0"/>
              <a:t>Team Leader</a:t>
            </a:r>
          </a:p>
        </p:txBody>
      </p:sp>
      <p:sp>
        <p:nvSpPr>
          <p:cNvPr id="37" name="TextBox 37"/>
          <p:cNvSpPr txBox="1"/>
          <p:nvPr/>
        </p:nvSpPr>
        <p:spPr>
          <a:xfrm>
            <a:off x="3848748" y="6211561"/>
            <a:ext cx="1319056" cy="342444"/>
          </a:xfrm>
          <a:prstGeom prst="rect">
            <a:avLst/>
          </a:prstGeom>
        </p:spPr>
        <p:txBody>
          <a:bodyPr lIns="0" tIns="0" rIns="0" bIns="0" rtlCol="0" anchor="t">
            <a:spAutoFit/>
          </a:bodyPr>
          <a:lstStyle/>
          <a:p>
            <a:r>
              <a:rPr dirty="0"/>
              <a:t>Research</a:t>
            </a:r>
          </a:p>
        </p:txBody>
      </p:sp>
      <p:sp>
        <p:nvSpPr>
          <p:cNvPr id="38" name="TextBox 38"/>
          <p:cNvSpPr txBox="1"/>
          <p:nvPr/>
        </p:nvSpPr>
        <p:spPr>
          <a:xfrm>
            <a:off x="10958264" y="6243486"/>
            <a:ext cx="1319056" cy="342444"/>
          </a:xfrm>
          <a:prstGeom prst="rect">
            <a:avLst/>
          </a:prstGeom>
        </p:spPr>
        <p:txBody>
          <a:bodyPr lIns="0" tIns="0" rIns="0" bIns="0" rtlCol="0" anchor="t">
            <a:spAutoFit/>
          </a:bodyPr>
          <a:lstStyle/>
          <a:p>
            <a:r>
              <a:rPr dirty="0"/>
              <a:t>Presentation &amp; Planning</a:t>
            </a:r>
          </a:p>
        </p:txBody>
      </p:sp>
      <p:sp>
        <p:nvSpPr>
          <p:cNvPr id="39" name="TextBox 39"/>
          <p:cNvSpPr txBox="1"/>
          <p:nvPr/>
        </p:nvSpPr>
        <p:spPr>
          <a:xfrm>
            <a:off x="14543692" y="6243486"/>
            <a:ext cx="1319056" cy="342444"/>
          </a:xfrm>
          <a:prstGeom prst="rect">
            <a:avLst/>
          </a:prstGeom>
        </p:spPr>
        <p:txBody>
          <a:bodyPr lIns="0" tIns="0" rIns="0" bIns="0" rtlCol="0" anchor="t">
            <a:spAutoFit/>
          </a:bodyPr>
          <a:lstStyle/>
          <a:p>
            <a:r>
              <a:t>Design</a:t>
            </a:r>
          </a:p>
        </p:txBody>
      </p:sp>
      <p:sp>
        <p:nvSpPr>
          <p:cNvPr id="40" name="TextBox 40"/>
          <p:cNvSpPr txBox="1"/>
          <p:nvPr/>
        </p:nvSpPr>
        <p:spPr>
          <a:xfrm>
            <a:off x="2399274" y="6938430"/>
            <a:ext cx="2711084" cy="1144000"/>
          </a:xfrm>
          <a:prstGeom prst="rect">
            <a:avLst/>
          </a:prstGeom>
        </p:spPr>
        <p:txBody>
          <a:bodyPr lIns="0" tIns="0" rIns="0" bIns="0" rtlCol="0" anchor="t">
            <a:spAutoFit/>
          </a:bodyPr>
          <a:lstStyle/>
          <a:p>
            <a:r>
              <a:t>Led the project and organized the main message.</a:t>
            </a:r>
          </a:p>
        </p:txBody>
      </p:sp>
      <p:sp>
        <p:nvSpPr>
          <p:cNvPr id="41" name="TextBox 41"/>
          <p:cNvSpPr txBox="1"/>
          <p:nvPr/>
        </p:nvSpPr>
        <p:spPr>
          <a:xfrm>
            <a:off x="5980807" y="6938430"/>
            <a:ext cx="2711084" cy="753475"/>
          </a:xfrm>
          <a:prstGeom prst="rect">
            <a:avLst/>
          </a:prstGeom>
        </p:spPr>
        <p:txBody>
          <a:bodyPr lIns="0" tIns="0" rIns="0" bIns="0" rtlCol="0" anchor="t">
            <a:spAutoFit/>
          </a:bodyPr>
          <a:lstStyle/>
          <a:p>
            <a:r>
              <a:t>Collected exercise information and data.</a:t>
            </a:r>
          </a:p>
        </p:txBody>
      </p:sp>
      <p:sp>
        <p:nvSpPr>
          <p:cNvPr id="42" name="TextBox 42"/>
          <p:cNvSpPr txBox="1"/>
          <p:nvPr/>
        </p:nvSpPr>
        <p:spPr>
          <a:xfrm>
            <a:off x="9566235" y="6938430"/>
            <a:ext cx="2711084" cy="753475"/>
          </a:xfrm>
          <a:prstGeom prst="rect">
            <a:avLst/>
          </a:prstGeom>
        </p:spPr>
        <p:txBody>
          <a:bodyPr lIns="0" tIns="0" rIns="0" bIns="0" rtlCol="0" anchor="t">
            <a:spAutoFit/>
          </a:bodyPr>
          <a:lstStyle/>
          <a:p>
            <a:r>
              <a:t>Prepared the presentation and script.</a:t>
            </a:r>
          </a:p>
        </p:txBody>
      </p:sp>
      <p:sp>
        <p:nvSpPr>
          <p:cNvPr id="43" name="TextBox 43"/>
          <p:cNvSpPr txBox="1"/>
          <p:nvPr/>
        </p:nvSpPr>
        <p:spPr>
          <a:xfrm>
            <a:off x="13151664" y="6938430"/>
            <a:ext cx="2711084" cy="753475"/>
          </a:xfrm>
          <a:prstGeom prst="rect">
            <a:avLst/>
          </a:prstGeom>
        </p:spPr>
        <p:txBody>
          <a:bodyPr lIns="0" tIns="0" rIns="0" bIns="0" rtlCol="0" anchor="t">
            <a:spAutoFit/>
          </a:bodyPr>
          <a:lstStyle/>
          <a:p>
            <a:r>
              <a:t>Created visual materials and design.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blipFill>
            <a:blip>
              <a:extLst>
                <a:ext uri="{96DAC541-7B7A-43D3-8B79-37D633B846F1}">
                  <asvg:svgBlip xmlns:asvg="http://schemas.microsoft.com/office/drawing/2016/SVG/main" r:embed="rId2"/>
                </a:ext>
              </a:extLst>
            </a:blip>
            <a:stretch>
              <a:fillRect l="-17521" r="-11307"/>
            </a:stretch>
          </a:blip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blipFill>
              <a:blip r:embed="rId3"/>
              <a:stretch>
                <a:fillRect l="-2297" r="-2297"/>
              </a:stretch>
            </a:blipFill>
          </p:spPr>
          <p:txBody>
            <a:bodyPr/>
            <a:lstStyle/>
            <a:p>
              <a:endParaRPr lang="ko-KR" altLang="en-US"/>
            </a:p>
          </p:txBody>
        </p:sp>
      </p:grpSp>
      <p:sp>
        <p:nvSpPr>
          <p:cNvPr id="11" name="TextBox 11"/>
          <p:cNvSpPr txBox="1"/>
          <p:nvPr/>
        </p:nvSpPr>
        <p:spPr>
          <a:xfrm>
            <a:off x="5686082" y="1763167"/>
            <a:ext cx="6915837" cy="553998"/>
          </a:xfrm>
          <a:prstGeom prst="rect">
            <a:avLst/>
          </a:prstGeom>
        </p:spPr>
        <p:txBody>
          <a:bodyPr lIns="0" tIns="0" rIns="0" bIns="0" rtlCol="0" anchor="t">
            <a:spAutoFit/>
          </a:bodyPr>
          <a:lstStyle/>
          <a:p>
            <a:r>
              <a:rPr sz="3600" dirty="0"/>
              <a:t>Key Message Summary</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t>Lee Insung and Friends</a:t>
            </a:r>
          </a:p>
        </p:txBody>
      </p:sp>
      <p:sp>
        <p:nvSpPr>
          <p:cNvPr id="13" name="TextBox 13"/>
          <p:cNvSpPr txBox="1"/>
          <p:nvPr/>
        </p:nvSpPr>
        <p:spPr>
          <a:xfrm>
            <a:off x="7863156" y="5350779"/>
            <a:ext cx="7485100" cy="2585323"/>
          </a:xfrm>
          <a:prstGeom prst="rect">
            <a:avLst/>
          </a:prstGeom>
        </p:spPr>
        <p:txBody>
          <a:bodyPr lIns="0" tIns="0" rIns="0" bIns="0" rtlCol="0" anchor="t">
            <a:spAutoFit/>
          </a:bodyPr>
          <a:lstStyle/>
          <a:p>
            <a:r>
              <a:rPr dirty="0"/>
              <a:t>"</a:t>
            </a:r>
            <a:r>
              <a:rPr sz="2800" dirty="0"/>
              <a:t>Move today for a better tomorrow."</a:t>
            </a:r>
          </a:p>
          <a:p>
            <a:r>
              <a:rPr sz="2800" dirty="0"/>
              <a:t>Change starts when we face reality. If we do not exercise, our health can get worse. But one small step today can change tomorrow.</a:t>
            </a:r>
          </a:p>
          <a:p>
            <a:r>
              <a:rPr sz="2800" dirty="0"/>
              <a:t>Start moving now. Small actions make a healthy life!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49373"/>
            <a:ext cx="6911789" cy="369332"/>
          </a:xfrm>
          <a:prstGeom prst="rect">
            <a:avLst/>
          </a:prstGeom>
        </p:spPr>
        <p:txBody>
          <a:bodyPr lIns="0" tIns="0" rIns="0" bIns="0" rtlCol="0" anchor="t">
            <a:spAutoFit/>
          </a:bodyPr>
          <a:lstStyle/>
          <a:p>
            <a:r>
              <a:rPr sz="2400" dirty="0"/>
              <a:t>Warning is the start. Exercise is the first step to change.</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55615" y="-150915"/>
            <a:ext cx="1058478" cy="3346967"/>
          </a:xfrm>
          <a:custGeom>
            <a:avLst/>
            <a:gdLst/>
            <a:ahLst/>
            <a:cxnLst/>
            <a:rect l="l" t="t" r="r" b="b"/>
            <a:pathLst>
              <a:path w="1058478" h="3346967">
                <a:moveTo>
                  <a:pt x="0" y="0"/>
                </a:moveTo>
                <a:lnTo>
                  <a:pt x="1058478" y="0"/>
                </a:lnTo>
                <a:lnTo>
                  <a:pt x="1058478" y="3346967"/>
                </a:lnTo>
                <a:lnTo>
                  <a:pt x="0" y="3346967"/>
                </a:lnTo>
                <a:lnTo>
                  <a:pt x="0" y="0"/>
                </a:lnTo>
                <a:close/>
              </a:path>
            </a:pathLst>
          </a:custGeom>
          <a:blipFill>
            <a:blip r:embed="rId2"/>
            <a:stretch>
              <a:fillRect/>
            </a:stretch>
          </a:blipFill>
        </p:spPr>
        <p:txBody>
          <a:bodyPr/>
          <a:lstStyle/>
          <a:p>
            <a:endParaRPr/>
          </a:p>
        </p:txBody>
      </p:sp>
      <p:sp>
        <p:nvSpPr>
          <p:cNvPr id="6" name="TextBox 6"/>
          <p:cNvSpPr txBox="1"/>
          <p:nvPr/>
        </p:nvSpPr>
        <p:spPr>
          <a:xfrm>
            <a:off x="5686082" y="3809224"/>
            <a:ext cx="6915837" cy="1586268"/>
          </a:xfrm>
          <a:prstGeom prst="rect">
            <a:avLst/>
          </a:prstGeom>
        </p:spPr>
        <p:txBody>
          <a:bodyPr lIns="0" tIns="0" rIns="0" bIns="0" rtlCol="0" anchor="t">
            <a:spAutoFit/>
          </a:bodyPr>
          <a:lstStyle/>
          <a:p>
            <a:pPr marL="0" lvl="0" indent="0" algn="ctr">
              <a:lnSpc>
                <a:spcPts val="13019"/>
              </a:lnSpc>
              <a:spcBef>
                <a:spcPct val="0"/>
              </a:spcBef>
            </a:pPr>
            <a:r>
              <a:rPr lang="en-US" sz="10092" b="1" u="none" strike="noStrike" dirty="0">
                <a:solidFill>
                  <a:srgbClr val="34332C"/>
                </a:solidFill>
                <a:latin typeface="마카롱"/>
                <a:ea typeface="마카롱"/>
                <a:cs typeface="마카롱"/>
                <a:sym typeface="마카롱"/>
              </a:rPr>
              <a:t>The end</a:t>
            </a:r>
          </a:p>
        </p:txBody>
      </p:sp>
      <p:sp>
        <p:nvSpPr>
          <p:cNvPr id="7" name="TextBox 7"/>
          <p:cNvSpPr txBox="1"/>
          <p:nvPr/>
        </p:nvSpPr>
        <p:spPr>
          <a:xfrm>
            <a:off x="12534316" y="1543885"/>
            <a:ext cx="4039366" cy="225933"/>
          </a:xfrm>
          <a:prstGeom prst="rect">
            <a:avLst/>
          </a:prstGeom>
        </p:spPr>
        <p:txBody>
          <a:bodyPr lIns="0" tIns="0" rIns="0" bIns="0" rtlCol="0" anchor="t">
            <a:spAutoFit/>
          </a:bodyPr>
          <a:lstStyle/>
          <a:p>
            <a:r>
              <a:t>Lee Insung and Friends</a:t>
            </a:r>
          </a:p>
        </p:txBody>
      </p:sp>
      <p:sp>
        <p:nvSpPr>
          <p:cNvPr id="8" name="TextBox 8"/>
          <p:cNvSpPr txBox="1"/>
          <p:nvPr/>
        </p:nvSpPr>
        <p:spPr>
          <a:xfrm>
            <a:off x="4944232" y="5833124"/>
            <a:ext cx="8399535" cy="369332"/>
          </a:xfrm>
          <a:prstGeom prst="rect">
            <a:avLst/>
          </a:prstGeom>
        </p:spPr>
        <p:txBody>
          <a:bodyPr lIns="0" tIns="0" rIns="0" bIns="0" rtlCol="0" anchor="t">
            <a:spAutoFit/>
          </a:bodyPr>
          <a:lstStyle/>
          <a:p>
            <a:r>
              <a:rPr sz="2400" dirty="0"/>
              <a:t>Let us move together and make a healthy tomorrow!</a:t>
            </a:r>
          </a:p>
        </p:txBody>
      </p:sp>
      <p:sp>
        <p:nvSpPr>
          <p:cNvPr id="9" name="TextBox 9"/>
          <p:cNvSpPr txBox="1"/>
          <p:nvPr/>
        </p:nvSpPr>
        <p:spPr>
          <a:xfrm>
            <a:off x="5430240" y="8400539"/>
            <a:ext cx="1704301" cy="454533"/>
          </a:xfrm>
          <a:prstGeom prst="rect">
            <a:avLst/>
          </a:prstGeom>
        </p:spPr>
        <p:txBody>
          <a:bodyPr lIns="0" tIns="0" rIns="0" bIns="0" rtlCol="0" anchor="t">
            <a:spAutoFit/>
          </a:bodyPr>
          <a:lstStyle/>
          <a:p>
            <a:r>
              <a:rPr dirty="0"/>
              <a:t>Lee Minjae · Lee </a:t>
            </a:r>
            <a:r>
              <a:rPr dirty="0" err="1"/>
              <a:t>Yeongu</a:t>
            </a:r>
            <a:r>
              <a:rPr dirty="0"/>
              <a:t> · Lee </a:t>
            </a:r>
            <a:r>
              <a:rPr dirty="0" err="1"/>
              <a:t>Insung</a:t>
            </a:r>
            <a:r>
              <a:rPr dirty="0"/>
              <a:t> · Lee </a:t>
            </a:r>
            <a:r>
              <a:rPr dirty="0" err="1"/>
              <a:t>Hayul</a:t>
            </a:r>
            <a:endParaRPr dirty="0"/>
          </a:p>
        </p:txBody>
      </p:sp>
      <p:sp>
        <p:nvSpPr>
          <p:cNvPr id="10" name="TextBox 10"/>
          <p:cNvSpPr txBox="1"/>
          <p:nvPr/>
        </p:nvSpPr>
        <p:spPr>
          <a:xfrm>
            <a:off x="7639968" y="8400539"/>
            <a:ext cx="3016821" cy="225933"/>
          </a:xfrm>
          <a:prstGeom prst="rect">
            <a:avLst/>
          </a:prstGeom>
        </p:spPr>
        <p:txBody>
          <a:bodyPr lIns="0" tIns="0" rIns="0" bIns="0" rtlCol="0" anchor="t">
            <a:spAutoFit/>
          </a:bodyPr>
          <a:lstStyle/>
          <a:p>
            <a:r>
              <a:t>Song Topic Presentation</a:t>
            </a:r>
          </a:p>
        </p:txBody>
      </p:sp>
      <p:sp>
        <p:nvSpPr>
          <p:cNvPr id="11" name="AutoShape 11"/>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3" name="AutoShape 13"/>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4" name="TextBox 14"/>
          <p:cNvSpPr txBox="1"/>
          <p:nvPr/>
        </p:nvSpPr>
        <p:spPr>
          <a:xfrm>
            <a:off x="11098122" y="8400539"/>
            <a:ext cx="2026166" cy="225933"/>
          </a:xfrm>
          <a:prstGeom prst="rect">
            <a:avLst/>
          </a:prstGeom>
        </p:spPr>
        <p:txBody>
          <a:bodyPr lIns="0" tIns="0" rIns="0" bIns="0" rtlCol="0" anchor="t">
            <a:spAutoFit/>
          </a:bodyPr>
          <a:lstStyle/>
          <a:p>
            <a:r>
              <a:t>Warning is the Start, Exercise is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437</Words>
  <Application>Microsoft Office PowerPoint</Application>
  <PresentationFormat>사용자 지정</PresentationFormat>
  <Paragraphs>51</Paragraphs>
  <Slides>7</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Calibri</vt:lpstr>
      <vt:lpstr>마카롱</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절망적 메시지로 이끄는 운동 동기부여 발표</dc:title>
  <cp:lastModifiedBy>[1학년 4반]이영우</cp:lastModifiedBy>
  <cp:revision>2</cp:revision>
  <dcterms:created xsi:type="dcterms:W3CDTF">2006-08-16T00:00:00Z</dcterms:created>
  <dcterms:modified xsi:type="dcterms:W3CDTF">2026-06-11T00:53:47Z</dcterms:modified>
  <dc:identifier>DAHMOH1jvKE</dc:identifier>
</cp:coreProperties>
</file>