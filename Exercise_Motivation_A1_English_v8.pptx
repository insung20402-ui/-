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14"/>
    <p:sldId id="257" r:id="rId3"/>
    <p:sldId id="258" r:id="rId4"/>
    <p:sldId id="259" r:id="rId5"/>
    <p:sldId id="260" r:id="rId6"/>
    <p:sldId id="261" r:id="rId7"/>
    <p:sldId id="262" r:id="rId8"/>
  </p:sldIdLst>
  <p:sldSz cx="18288000" cy="10287000"/>
  <p:notesSz cx="6858000" cy="9144000"/>
  <p:embeddedFontLst>
    <p:embeddedFont>
      <p:font typeface="마카롱" panose="020B0600000101010101" charset="-127"/>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50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font" Target="fonts/font1.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2.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 will introduce a song we made about exercise. Our team members are Lee Minjae, Lee Yeongu, Lee Insung, and Lee Hayul. Let's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listen to our song! It is called "Kids Who Exercise." We made it with Suno AI. The song starts with a warning. Then it becomes happy and exciting. (Play the song now. If you need more time, you can stop after the chorus,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our song about? We made a song called "Kids Who Exercise." It is about exercise and healthy morning habits. We wrote the lyrics and made the music using Suno AI. The song starts with a warning about skipping breakfast and not moving, then becomes a happy, energetic song about exercising every day. We hope it makes you want to move!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what our song says. Verse 1 talks about a morning with no breakfast and no exercise, which feels hard and tiring. The chorus says: "Let's go take a walk outside, exercise every day, feel the pride!" Verse 2 and the bridge talk about moving your body and eating well to make every day more fun. Our song moves from a warning to an exciting call to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story in our song. Verse 1 is the problem: a child skips breakfast and doesn't move, and the morning feels hard. Verse 2 is the change: the child moves every day, eats well, and has fun in the sun. The bridge and chorus repeat our message: small steps, day by day, build healthy habits.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team! Lee Minjae wrote our script. Lee Yeongu made the slides and the design. Lee Insung gave the presentation and helped with the design. Lee Hayul was our team leader and made the song. We all worked together to make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here is our song's message: "Move today for a better tomorrow." This is the main message of our song. It starts with a warning, but it ends with hope: small steps today can change tomorrow. Listen to our song, and start moving, one step at a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Thanks for listening to our song. Let's move together and make a healthy tomorrow! Our team is Lee Minjae, Lee Yeongu, Lee Insung, and Lee Hayul.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659B7C15-7C26-0D40-0EE7-B71555217B6E}"/>
              </a:ext>
            </a:extLst>
          </p:cNvPr>
          <p:cNvSpPr txBox="1"/>
          <p:nvPr userDrawn="1"/>
        </p:nvSpPr>
        <p:spPr>
          <a:xfrm>
            <a:off x="12725400" y="860354"/>
            <a:ext cx="9144000" cy="369332"/>
          </a:xfrm>
          <a:prstGeom prst="rect">
            <a:avLst/>
          </a:prstGeom>
          <a:noFill/>
        </p:spPr>
        <p:txBody>
          <a:bodyPr wrap="square">
            <a:spAutoFit/>
          </a:bodyPr>
          <a:lstStyle/>
          <a:p>
            <a:r>
              <a:rPr lang="en-US" altLang="ko-KR" dirty="0"/>
              <a:t>Lee </a:t>
            </a:r>
            <a:r>
              <a:rPr lang="en-US" altLang="ko-KR" dirty="0" err="1"/>
              <a:t>Insung</a:t>
            </a:r>
            <a:r>
              <a:rPr lang="en-US" altLang="ko-KR" dirty="0"/>
              <a:t> and Friends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27793" y="497095"/>
            <a:ext cx="1111397" cy="2050831"/>
          </a:xfrm>
          <a:custGeom>
            <a:avLst/>
            <a:gdLst/>
            <a:ahLst/>
            <a:cxnLst/>
            <a:rect l="l" t="t" r="r" b="b"/>
            <a:pathLst>
              <a:path w="1111397" h="2050831">
                <a:moveTo>
                  <a:pt x="0" y="0"/>
                </a:moveTo>
                <a:lnTo>
                  <a:pt x="1111397" y="0"/>
                </a:lnTo>
                <a:lnTo>
                  <a:pt x="1111397" y="2050830"/>
                </a:lnTo>
                <a:lnTo>
                  <a:pt x="0" y="2050830"/>
                </a:lnTo>
                <a:lnTo>
                  <a:pt x="0" y="0"/>
                </a:lnTo>
                <a:close/>
              </a:path>
            </a:pathLst>
          </a:custGeom>
          <a:solidFill>
            <a:srgbClr val="FFDF60"/>
          </a:solidFill>
        </p:spPr>
        <p:txBody>
          <a:bodyPr/>
          <a:lstStyle/>
          <a:p>
            <a:endParaRPr/>
          </a:p>
        </p:txBody>
      </p:sp>
      <p:sp>
        <p:nvSpPr>
          <p:cNvPr id="6" name="TextBox 6"/>
          <p:cNvSpPr txBox="1"/>
          <p:nvPr/>
        </p:nvSpPr>
        <p:spPr>
          <a:xfrm>
            <a:off x="4360313" y="3486720"/>
            <a:ext cx="9567375" cy="2215991"/>
          </a:xfrm>
          <a:prstGeom prst="rect">
            <a:avLst/>
          </a:prstGeom>
        </p:spPr>
        <p:txBody>
          <a:bodyPr lIns="0" tIns="0" rIns="0" bIns="0" rtlCol="0" anchor="t">
            <a:spAutoFit/>
          </a:bodyPr>
          <a:lstStyle/>
          <a:p>
            <a:r>
              <a:rPr sz="4800" dirty="0"/>
              <a:t>Song Introduction</a:t>
            </a:r>
          </a:p>
          <a:p>
            <a:r>
              <a:rPr sz="4800" dirty="0"/>
              <a:t/>
            </a:r>
          </a:p>
          <a:p>
            <a:r>
              <a:rPr sz="4800" dirty="0"/>
              <a:t>Kids Who Exercise</a:t>
            </a:r>
          </a:p>
        </p:txBody>
      </p:sp>
      <p:sp>
        <p:nvSpPr>
          <p:cNvPr id="7" name="TextBox 7"/>
          <p:cNvSpPr txBox="1"/>
          <p:nvPr/>
        </p:nvSpPr>
        <p:spPr>
          <a:xfrm>
            <a:off x="5296976" y="8546847"/>
            <a:ext cx="1704301" cy="273067"/>
          </a:xfrm>
          <a:prstGeom prst="rect">
            <a:avLst/>
          </a:prstGeom>
        </p:spPr>
        <p:txBody>
          <a:bodyPr lIns="0" tIns="0" rIns="0" bIns="0" rtlCol="0" anchor="t">
            <a:spAutoFit/>
          </a:bodyPr>
          <a:lstStyle/>
          <a:p>
            <a:r>
              <a:t>Lee Insung and Friends</a:t>
            </a:r>
          </a:p>
        </p:txBody>
      </p:sp>
      <p:sp>
        <p:nvSpPr>
          <p:cNvPr id="8" name="TextBox 8"/>
          <p:cNvSpPr txBox="1"/>
          <p:nvPr/>
        </p:nvSpPr>
        <p:spPr>
          <a:xfrm>
            <a:off x="7506704" y="8537322"/>
            <a:ext cx="3016821" cy="318700"/>
          </a:xfrm>
          <a:prstGeom prst="rect">
            <a:avLst/>
          </a:prstGeom>
        </p:spPr>
        <p:txBody>
          <a:bodyPr lIns="0" tIns="0" rIns="0" bIns="0" rtlCol="0" anchor="t">
            <a:spAutoFit/>
          </a:bodyPr>
          <a:lstStyle/>
          <a:p>
            <a:r>
              <a:t>Lee Minjae · Lee Yeongu · Lee Insung · Lee Hayul</a:t>
            </a:r>
          </a:p>
        </p:txBody>
      </p:sp>
      <p:sp>
        <p:nvSpPr>
          <p:cNvPr id="9" name="TextBox 9"/>
          <p:cNvSpPr txBox="1"/>
          <p:nvPr/>
        </p:nvSpPr>
        <p:spPr>
          <a:xfrm>
            <a:off x="13411200" y="1524834"/>
            <a:ext cx="3162482" cy="369332"/>
          </a:xfrm>
          <a:prstGeom prst="rect">
            <a:avLst/>
          </a:prstGeom>
        </p:spPr>
        <p:txBody>
          <a:bodyPr wrap="square" lIns="0" tIns="0" rIns="0" bIns="0" rtlCol="0" anchor="t">
            <a:spAutoFit/>
          </a:bodyPr>
          <a:lstStyle/>
          <a:p>
            <a:r>
              <a:rPr sz="2400" dirty="0"/>
              <a:t>Song Introduction</a:t>
            </a:r>
          </a:p>
        </p:txBody>
      </p:sp>
      <p:sp>
        <p:nvSpPr>
          <p:cNvPr id="10" name="AutoShape 10"/>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1" name="AutoShape 11"/>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DE"/>
        </a:solidFill>
        <a:effectLst/>
      </p:bgPr>
    </p:bg>
    <p:spTree>
      <p:nvGrpSpPr>
        <p:cNvPr id="1" name=""/>
        <p:cNvGrpSpPr/>
        <p:nvPr/>
      </p:nvGrpSpPr>
      <p:grpSpPr/>
      <p:sp>
        <p:nvSpPr>
          <p:cNvPr id="2" name="TextBox 1"/>
          <p:cNvSpPr txBox="1"/>
          <p:nvPr/>
        </p:nvSpPr>
        <p:spPr>
          <a:xfrm>
            <a:off x="928307" y="700000"/>
            <a:ext cx="16431386" cy="1100000"/>
          </a:xfrm>
          <a:prstGeom prst="rect">
            <a:avLst/>
          </a:prstGeom>
          <a:noFill/>
        </p:spPr>
        <p:txBody>
          <a:bodyPr wrap="square">
            <a:spAutoFit/>
          </a:bodyPr>
          <a:lstStyle/>
          <a:p>
            <a:pPr algn="ctr"/>
            <a:r>
              <a:rPr sz="4400" b="1">
                <a:solidFill>
                  <a:srgbClr val="34332C"/>
                </a:solidFill>
              </a:rPr>
              <a:t>Listen to the Song</a:t>
            </a:r>
          </a:p>
        </p:txBody>
      </p:sp>
      <p:sp>
        <p:nvSpPr>
          <p:cNvPr id="3" name="TextBox 2"/>
          <p:cNvSpPr txBox="1"/>
          <p:nvPr/>
        </p:nvSpPr>
        <p:spPr>
          <a:xfrm>
            <a:off x="928307" y="1750000"/>
            <a:ext cx="16431386" cy="550000"/>
          </a:xfrm>
          <a:prstGeom prst="rect">
            <a:avLst/>
          </a:prstGeom>
          <a:noFill/>
        </p:spPr>
        <p:txBody>
          <a:bodyPr wrap="square">
            <a:spAutoFit/>
          </a:bodyPr>
          <a:lstStyle/>
          <a:p>
            <a:pPr algn="ctr"/>
            <a:r>
              <a:rPr sz="2000" i="1">
                <a:solidFill>
                  <a:srgbClr val="34332C"/>
                </a:solidFill>
              </a:rPr>
              <a:t>“Kids Who Exercise” (운동하는 아이들)  ·  Music &amp; Lyrics by insung20402  ·  Created with Suno AI</a:t>
            </a:r>
          </a:p>
        </p:txBody>
      </p:sp>
      <p:sp>
        <p:nvSpPr>
          <p:cNvPr id="4" name="Rounded Rectangle 3"/>
          <p:cNvSpPr/>
          <p:nvPr/>
        </p:nvSpPr>
        <p:spPr>
          <a:xfrm>
            <a:off x="7300000" y="2450000"/>
            <a:ext cx="3700000" cy="1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00000" y="2570000"/>
            <a:ext cx="3700000" cy="350000"/>
          </a:xfrm>
          <a:prstGeom prst="rect">
            <a:avLst/>
          </a:prstGeom>
          <a:noFill/>
        </p:spPr>
        <p:txBody>
          <a:bodyPr wrap="none">
            <a:spAutoFit/>
          </a:bodyPr>
          <a:lstStyle/>
          <a:p>
            <a:pPr algn="ctr"/>
            <a:r>
              <a:rPr sz="1800" b="1">
                <a:solidFill>
                  <a:srgbClr val="34332C"/>
                </a:solidFill>
              </a:rPr>
              <a:t>▶ Click to Play the Song</a:t>
            </a:r>
          </a:p>
        </p:txBody>
      </p:sp>
      <p:pic>
        <p:nvPicPr>
          <p:cNvPr id="6" name="song.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700000" y="2930000"/>
            <a:ext cx="900000" cy="900000"/>
          </a:xfrm>
          <a:prstGeom prst="rect">
            <a:avLst/>
          </a:prstGeom>
        </p:spPr>
      </p:pic>
      <p:sp>
        <p:nvSpPr>
          <p:cNvPr id="7" name="Rounded Rectangle 6"/>
          <p:cNvSpPr/>
          <p:nvPr/>
        </p:nvSpPr>
        <p:spPr>
          <a:xfrm>
            <a:off x="2326029"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1</a:t>
            </a:r>
          </a:p>
          <a:p>
            <a:pPr>
              <a:lnSpc>
                <a:spcPct val="110000"/>
              </a:lnSpc>
            </a:pPr>
            <a:r>
              <a:rPr sz="1800">
                <a:solidFill>
                  <a:srgbClr val="34332C"/>
                </a:solidFill>
              </a:rPr>
              <a:t>Wake up early in the morning light</a:t>
            </a:r>
          </a:p>
          <a:p>
            <a:pPr>
              <a:lnSpc>
                <a:spcPct val="110000"/>
              </a:lnSpc>
            </a:pPr>
            <a:r>
              <a:rPr sz="1800">
                <a:solidFill>
                  <a:srgbClr val="34332C"/>
                </a:solidFill>
              </a:rPr>
              <a:t>I should eat some veggies, make it right</a:t>
            </a:r>
          </a:p>
          <a:p>
            <a:pPr>
              <a:lnSpc>
                <a:spcPct val="110000"/>
              </a:lnSpc>
            </a:pPr>
            <a:r>
              <a:rPr sz="1800">
                <a:solidFill>
                  <a:srgbClr val="34332C"/>
                </a:solidFill>
              </a:rPr>
              <a:t>No breakfast, no success,</a:t>
            </a:r>
          </a:p>
          <a:p>
            <a:pPr>
              <a:lnSpc>
                <a:spcPct val="110000"/>
              </a:lnSpc>
            </a:pPr>
            <a:r>
              <a:rPr sz="1800">
                <a:solidFill>
                  <a:srgbClr val="34332C"/>
                </a:solidFill>
              </a:rPr>
              <a:t>study's struggle nothing less</a:t>
            </a:r>
          </a:p>
          <a:p>
            <a:pPr>
              <a:lnSpc>
                <a:spcPct val="110000"/>
              </a:lnSpc>
            </a:pPr>
            <a:r>
              <a:rPr sz="1800">
                <a:solidFill>
                  <a:srgbClr val="34332C"/>
                </a:solidFill>
              </a:rPr>
              <a:t/>
            </a:r>
          </a:p>
          <a:p>
            <a:pPr>
              <a:lnSpc>
                <a:spcPct val="110000"/>
              </a:lnSpc>
              <a:spcBef>
                <a:spcPts val="1000"/>
              </a:spcBef>
            </a:pPr>
            <a:r>
              <a:rPr b="1" sz="2000">
                <a:solidFill>
                  <a:srgbClr val="C99A00"/>
                </a:solidFill>
              </a:rPr>
              <a:t>CHORUS</a:t>
            </a:r>
          </a:p>
          <a:p>
            <a:pPr>
              <a:lnSpc>
                <a:spcPct val="110000"/>
              </a:lnSpc>
            </a:pPr>
            <a:r>
              <a:rPr sz="1800">
                <a:solidFill>
                  <a:srgbClr val="34332C"/>
                </a:solidFill>
              </a:rPr>
              <a:t>Let's go take a walk outside</a:t>
            </a:r>
          </a:p>
          <a:p>
            <a:pPr>
              <a:lnSpc>
                <a:spcPct val="110000"/>
              </a:lnSpc>
            </a:pPr>
            <a:r>
              <a:rPr sz="1800">
                <a:solidFill>
                  <a:srgbClr val="34332C"/>
                </a:solidFill>
              </a:rPr>
              <a:t>Exercise every day, feel the pride</a:t>
            </a:r>
          </a:p>
          <a:p>
            <a:pPr>
              <a:lnSpc>
                <a:spcPct val="110000"/>
              </a:lnSpc>
            </a:pPr>
            <a:r>
              <a:rPr sz="1800">
                <a:solidFill>
                  <a:srgbClr val="34332C"/>
                </a:solidFill>
              </a:rPr>
              <a:t>Healthy habits make me strong</a:t>
            </a:r>
          </a:p>
          <a:p>
            <a:pPr>
              <a:lnSpc>
                <a:spcPct val="110000"/>
              </a:lnSpc>
            </a:pPr>
            <a:r>
              <a:rPr sz="1800">
                <a:solidFill>
                  <a:srgbClr val="34332C"/>
                </a:solidFill>
              </a:rPr>
              <a:t>Singing this happy morning song!</a:t>
            </a:r>
          </a:p>
        </p:txBody>
      </p:sp>
      <p:sp>
        <p:nvSpPr>
          <p:cNvPr id="8" name="Rounded Rectangle 7"/>
          <p:cNvSpPr/>
          <p:nvPr/>
        </p:nvSpPr>
        <p:spPr>
          <a:xfrm>
            <a:off x="10661971"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2</a:t>
            </a:r>
          </a:p>
          <a:p>
            <a:pPr>
              <a:lnSpc>
                <a:spcPct val="110000"/>
              </a:lnSpc>
            </a:pPr>
            <a:r>
              <a:rPr sz="1800">
                <a:solidFill>
                  <a:srgbClr val="34332C"/>
                </a:solidFill>
              </a:rPr>
              <a:t>I should move my body every day</a:t>
            </a:r>
          </a:p>
          <a:p>
            <a:pPr>
              <a:lnSpc>
                <a:spcPct val="110000"/>
              </a:lnSpc>
            </a:pPr>
            <a:r>
              <a:rPr sz="1800">
                <a:solidFill>
                  <a:srgbClr val="34332C"/>
                </a:solidFill>
              </a:rPr>
              <a:t>Eating a good breakfast is the way</a:t>
            </a:r>
          </a:p>
          <a:p>
            <a:pPr>
              <a:lnSpc>
                <a:spcPct val="110000"/>
              </a:lnSpc>
            </a:pPr>
            <a:r>
              <a:rPr sz="1800">
                <a:solidFill>
                  <a:srgbClr val="34332C"/>
                </a:solidFill>
              </a:rPr>
              <a:t>Let's jump and run under the sun</a:t>
            </a:r>
          </a:p>
          <a:p>
            <a:pPr>
              <a:lnSpc>
                <a:spcPct val="110000"/>
              </a:lnSpc>
            </a:pPr>
            <a:r>
              <a:rPr sz="1800">
                <a:solidFill>
                  <a:srgbClr val="34332C"/>
                </a:solidFill>
              </a:rPr>
              <a:t>Healthy life is so much fun!</a:t>
            </a:r>
          </a:p>
          <a:p>
            <a:pPr>
              <a:lnSpc>
                <a:spcPct val="110000"/>
              </a:lnSpc>
            </a:pPr>
            <a:r>
              <a:rPr sz="1800">
                <a:solidFill>
                  <a:srgbClr val="34332C"/>
                </a:solidFill>
              </a:rPr>
              <a:t/>
            </a:r>
          </a:p>
          <a:p>
            <a:pPr>
              <a:lnSpc>
                <a:spcPct val="110000"/>
              </a:lnSpc>
              <a:spcBef>
                <a:spcPts val="1000"/>
              </a:spcBef>
            </a:pPr>
            <a:r>
              <a:rPr b="1" sz="2000">
                <a:solidFill>
                  <a:srgbClr val="C99A00"/>
                </a:solidFill>
              </a:rPr>
              <a:t>BRIDGE</a:t>
            </a:r>
          </a:p>
          <a:p>
            <a:pPr>
              <a:lnSpc>
                <a:spcPct val="110000"/>
              </a:lnSpc>
            </a:pPr>
            <a:r>
              <a:rPr sz="1800">
                <a:solidFill>
                  <a:srgbClr val="34332C"/>
                </a:solidFill>
              </a:rPr>
              <a:t>Sometimes it is hard to do</a:t>
            </a:r>
          </a:p>
          <a:p>
            <a:pPr>
              <a:lnSpc>
                <a:spcPct val="110000"/>
              </a:lnSpc>
            </a:pPr>
            <a:r>
              <a:rPr sz="1800">
                <a:solidFill>
                  <a:srgbClr val="34332C"/>
                </a:solidFill>
              </a:rPr>
              <a:t>But it is good for me and you</a:t>
            </a:r>
          </a:p>
          <a:p>
            <a:pPr>
              <a:lnSpc>
                <a:spcPct val="110000"/>
              </a:lnSpc>
            </a:pPr>
            <a:r>
              <a:rPr sz="1800">
                <a:solidFill>
                  <a:srgbClr val="34332C"/>
                </a:solidFill>
              </a:rPr>
              <a:t>Step by step and day by day</a:t>
            </a:r>
          </a:p>
          <a:p>
            <a:pPr>
              <a:lnSpc>
                <a:spcPct val="110000"/>
              </a:lnSpc>
            </a:pPr>
            <a:r>
              <a:rPr sz="1800">
                <a:solidFill>
                  <a:srgbClr val="34332C"/>
                </a:solidFill>
              </a:rPr>
              <a:t>We can chase the lazy away!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53642"/>
            <a:ext cx="6915837" cy="677108"/>
          </a:xfrm>
          <a:prstGeom prst="rect">
            <a:avLst/>
          </a:prstGeom>
        </p:spPr>
        <p:txBody>
          <a:bodyPr lIns="0" tIns="0" rIns="0" bIns="0" rtlCol="0" anchor="t">
            <a:spAutoFit/>
          </a:bodyPr>
          <a:lstStyle/>
          <a:p>
            <a:r>
              <a:rPr sz="4400" dirty="0"/>
              <a:t>About Our Song</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rPr lang="en-US" dirty="0"/>
              <a:t>Lee </a:t>
            </a:r>
            <a:r>
              <a:rPr lang="en-US" dirty="0" err="1"/>
              <a:t>Insung</a:t>
            </a:r>
            <a:r>
              <a:rPr lang="en-US" dirty="0"/>
              <a:t> and Friends</a:t>
            </a:r>
          </a:p>
        </p:txBody>
      </p:sp>
      <p:sp>
        <p:nvSpPr>
          <p:cNvPr id="13" name="TextBox 13"/>
          <p:cNvSpPr txBox="1"/>
          <p:nvPr/>
        </p:nvSpPr>
        <p:spPr>
          <a:xfrm>
            <a:off x="7863156" y="5350779"/>
            <a:ext cx="7485100" cy="2788601"/>
          </a:xfrm>
          <a:prstGeom prst="rect">
            <a:avLst/>
          </a:prstGeom>
        </p:spPr>
        <p:txBody>
          <a:bodyPr lIns="0" tIns="0" rIns="0" bIns="0" rtlCol="0" anchor="t">
            <a:spAutoFit/>
          </a:bodyPr>
          <a:lstStyle/>
          <a:p>
            <a:r>
              <a:t>We made a song called "Kids Who Exercise." It is about exercise and healthy morning habits. We wrote the lyrics and made the music using Suno AI.</a:t>
            </a:r>
          </a:p>
          <a:p>
            <a:r>
              <a:t>The song starts with a warning about skipping breakfast and not moving. Then it becomes a happy, energetic song about exercising every day. We hope it makes you want to move!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68423"/>
            <a:ext cx="6911789" cy="677108"/>
          </a:xfrm>
          <a:prstGeom prst="rect">
            <a:avLst/>
          </a:prstGeom>
        </p:spPr>
        <p:txBody>
          <a:bodyPr lIns="0" tIns="0" rIns="0" bIns="0" rtlCol="0" anchor="t">
            <a:spAutoFit/>
          </a:bodyPr>
          <a:lstStyle/>
          <a:p>
            <a:r>
              <a:rPr sz="2200"/>
              <a:t>Our song shares a fun and powerful message about exercise.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6027824" y="3546661"/>
            <a:ext cx="10075516" cy="868643"/>
            <a:chOff x="0" y="0"/>
            <a:chExt cx="2361775" cy="203616"/>
          </a:xfrm>
        </p:grpSpPr>
        <p:sp>
          <p:nvSpPr>
            <p:cNvPr id="7" name="Freeform 7"/>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027824" y="4802980"/>
            <a:ext cx="10075516" cy="868643"/>
            <a:chOff x="0" y="0"/>
            <a:chExt cx="2361775" cy="203616"/>
          </a:xfrm>
        </p:grpSpPr>
        <p:sp>
          <p:nvSpPr>
            <p:cNvPr id="10" name="Freeform 10"/>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6027824" y="6062149"/>
            <a:ext cx="10075516" cy="868643"/>
            <a:chOff x="0" y="0"/>
            <a:chExt cx="2361775" cy="203616"/>
          </a:xfrm>
        </p:grpSpPr>
        <p:sp>
          <p:nvSpPr>
            <p:cNvPr id="13" name="Freeform 13"/>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AutoShape 15"/>
          <p:cNvSpPr/>
          <p:nvPr/>
        </p:nvSpPr>
        <p:spPr>
          <a:xfrm>
            <a:off x="6329547" y="378914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6" name="AutoShape 16"/>
          <p:cNvSpPr/>
          <p:nvPr/>
        </p:nvSpPr>
        <p:spPr>
          <a:xfrm>
            <a:off x="6329547" y="504546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7" name="AutoShape 17"/>
          <p:cNvSpPr/>
          <p:nvPr/>
        </p:nvSpPr>
        <p:spPr>
          <a:xfrm>
            <a:off x="6329547" y="6304637"/>
            <a:ext cx="0" cy="383667"/>
          </a:xfrm>
          <a:prstGeom prst="line">
            <a:avLst/>
          </a:prstGeom>
          <a:ln w="47625" cap="flat">
            <a:solidFill>
              <a:srgbClr val="FFDF60"/>
            </a:solidFill>
            <a:prstDash val="solid"/>
            <a:headEnd type="none" w="sm" len="sm"/>
            <a:tailEnd type="none" w="sm" len="sm"/>
          </a:ln>
        </p:spPr>
        <p:txBody>
          <a:bodyPr/>
          <a:lstStyle/>
          <a:p>
            <a:endParaRPr/>
          </a:p>
        </p:txBody>
      </p:sp>
      <p:grpSp>
        <p:nvGrpSpPr>
          <p:cNvPr id="18" name="Group 18"/>
          <p:cNvGrpSpPr/>
          <p:nvPr/>
        </p:nvGrpSpPr>
        <p:grpSpPr>
          <a:xfrm>
            <a:off x="2184660" y="7321317"/>
            <a:ext cx="13918679" cy="1347850"/>
            <a:chOff x="0" y="0"/>
            <a:chExt cx="3262641" cy="315946"/>
          </a:xfrm>
        </p:grpSpPr>
        <p:sp>
          <p:nvSpPr>
            <p:cNvPr id="19" name="Freeform 19"/>
            <p:cNvSpPr/>
            <p:nvPr/>
          </p:nvSpPr>
          <p:spPr>
            <a:xfrm>
              <a:off x="0" y="0"/>
              <a:ext cx="3262641" cy="315946"/>
            </a:xfrm>
            <a:custGeom>
              <a:avLst/>
              <a:gdLst/>
              <a:ahLst/>
              <a:cxnLst/>
              <a:rect l="l" t="t" r="r" b="b"/>
              <a:pathLst>
                <a:path w="3262641" h="315946">
                  <a:moveTo>
                    <a:pt x="0" y="0"/>
                  </a:moveTo>
                  <a:lnTo>
                    <a:pt x="3262641" y="0"/>
                  </a:lnTo>
                  <a:lnTo>
                    <a:pt x="3262641" y="315946"/>
                  </a:lnTo>
                  <a:lnTo>
                    <a:pt x="0" y="315946"/>
                  </a:lnTo>
                  <a:close/>
                </a:path>
              </a:pathLst>
            </a:custGeom>
            <a:solidFill>
              <a:srgbClr val="FFF8DE"/>
            </a:solidFill>
            <a:ln w="19050" cap="sq">
              <a:solidFill>
                <a:srgbClr val="34332C"/>
              </a:solidFill>
              <a:prstDash val="solid"/>
              <a:miter/>
            </a:ln>
          </p:spPr>
          <p:txBody>
            <a:bodyPr/>
            <a:lstStyle/>
            <a:p>
              <a:endParaRPr lang="ko-KR" altLang="en-US"/>
            </a:p>
          </p:txBody>
        </p:sp>
        <p:sp>
          <p:nvSpPr>
            <p:cNvPr id="20" name="TextBox 20"/>
            <p:cNvSpPr txBox="1"/>
            <p:nvPr/>
          </p:nvSpPr>
          <p:spPr>
            <a:xfrm>
              <a:off x="0" y="-47625"/>
              <a:ext cx="3262641" cy="36357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2184660" y="3546661"/>
            <a:ext cx="3595513" cy="3384131"/>
            <a:chOff x="0" y="0"/>
            <a:chExt cx="557039" cy="524291"/>
          </a:xfrm>
        </p:grpSpPr>
        <p:sp>
          <p:nvSpPr>
            <p:cNvPr id="22" name="Freeform 22"/>
            <p:cNvSpPr/>
            <p:nvPr/>
          </p:nvSpPr>
          <p:spPr>
            <a:xfrm>
              <a:off x="0" y="0"/>
              <a:ext cx="557039" cy="524291"/>
            </a:xfrm>
            <a:custGeom>
              <a:avLst/>
              <a:gdLst/>
              <a:ahLst/>
              <a:cxnLst/>
              <a:rect l="l" t="t" r="r" b="b"/>
              <a:pathLst>
                <a:path w="557039" h="524291">
                  <a:moveTo>
                    <a:pt x="0" y="0"/>
                  </a:moveTo>
                  <a:lnTo>
                    <a:pt x="557039" y="0"/>
                  </a:lnTo>
                  <a:lnTo>
                    <a:pt x="557039" y="524291"/>
                  </a:lnTo>
                  <a:lnTo>
                    <a:pt x="0" y="524291"/>
                  </a:lnTo>
                  <a:close/>
                </a:path>
              </a:pathLst>
            </a:custGeom>
            <a:solidFill>
              <a:srgbClr val="FFFDF8"/>
            </a:solidFill>
            <a:ln w="19050">
              <a:solidFill>
                <a:srgbClr val="34332C"/>
              </a:solidFill>
            </a:ln>
          </p:spPr>
          <p:txBody>
            <a:bodyPr/>
            <a:lstStyle/>
            <a:p>
              <a:endParaRPr lang="ko-KR" altLang="en-US"/>
            </a:p>
          </p:txBody>
        </p:sp>
      </p:grpSp>
      <p:sp>
        <p:nvSpPr>
          <p:cNvPr id="23" name="TextBox 23"/>
          <p:cNvSpPr txBox="1"/>
          <p:nvPr/>
        </p:nvSpPr>
        <p:spPr>
          <a:xfrm>
            <a:off x="4614515" y="1782217"/>
            <a:ext cx="9058971" cy="430887"/>
          </a:xfrm>
          <a:prstGeom prst="rect">
            <a:avLst/>
          </a:prstGeom>
        </p:spPr>
        <p:txBody>
          <a:bodyPr lIns="0" tIns="0" rIns="0" bIns="0" rtlCol="0" anchor="t">
            <a:spAutoFit/>
          </a:bodyPr>
          <a:lstStyle/>
          <a:p>
            <a:r>
              <a:rPr sz="2800" dirty="0"/>
              <a:t>What Our Song Says</a:t>
            </a:r>
          </a:p>
        </p:txBody>
      </p:sp>
      <p:sp>
        <p:nvSpPr>
          <p:cNvPr id="25" name="TextBox 25"/>
          <p:cNvSpPr txBox="1"/>
          <p:nvPr/>
        </p:nvSpPr>
        <p:spPr>
          <a:xfrm>
            <a:off x="6601135" y="3682468"/>
            <a:ext cx="9383963" cy="738664"/>
          </a:xfrm>
          <a:prstGeom prst="rect">
            <a:avLst/>
          </a:prstGeom>
        </p:spPr>
        <p:txBody>
          <a:bodyPr lIns="0" tIns="0" rIns="0" bIns="0" rtlCol="0" anchor="t">
            <a:spAutoFit/>
          </a:bodyPr>
          <a:lstStyle/>
          <a:p>
            <a:r>
              <a:rPr sz="2400" dirty="0"/>
              <a:t>Verse 1 — A morning with no breakfast and no exercise feels hard and tiring</a:t>
            </a:r>
          </a:p>
        </p:txBody>
      </p:sp>
      <p:sp>
        <p:nvSpPr>
          <p:cNvPr id="26" name="TextBox 26"/>
          <p:cNvSpPr txBox="1"/>
          <p:nvPr/>
        </p:nvSpPr>
        <p:spPr>
          <a:xfrm>
            <a:off x="6601135" y="4938788"/>
            <a:ext cx="9383963" cy="369332"/>
          </a:xfrm>
          <a:prstGeom prst="rect">
            <a:avLst/>
          </a:prstGeom>
        </p:spPr>
        <p:txBody>
          <a:bodyPr lIns="0" tIns="0" rIns="0" bIns="0" rtlCol="0" anchor="t">
            <a:spAutoFit/>
          </a:bodyPr>
          <a:lstStyle/>
          <a:p>
            <a:r>
              <a:rPr sz="2400"/>
              <a:t>Chorus — "Let's go take a walk outside, exercise every day, feel the pride!"</a:t>
            </a:r>
          </a:p>
        </p:txBody>
      </p:sp>
      <p:sp>
        <p:nvSpPr>
          <p:cNvPr id="27" name="TextBox 27"/>
          <p:cNvSpPr txBox="1"/>
          <p:nvPr/>
        </p:nvSpPr>
        <p:spPr>
          <a:xfrm>
            <a:off x="6601135" y="6197957"/>
            <a:ext cx="9383963" cy="369332"/>
          </a:xfrm>
          <a:prstGeom prst="rect">
            <a:avLst/>
          </a:prstGeom>
        </p:spPr>
        <p:txBody>
          <a:bodyPr lIns="0" tIns="0" rIns="0" bIns="0" rtlCol="0" anchor="t">
            <a:spAutoFit/>
          </a:bodyPr>
          <a:lstStyle/>
          <a:p>
            <a:r>
              <a:rPr sz="2400"/>
              <a:t>Verse 2 &amp; Bridge — Moving your body and eating well make every day more fun</a:t>
            </a:r>
          </a:p>
        </p:txBody>
      </p:sp>
      <p:sp>
        <p:nvSpPr>
          <p:cNvPr id="28" name="TextBox 28"/>
          <p:cNvSpPr txBox="1"/>
          <p:nvPr/>
        </p:nvSpPr>
        <p:spPr>
          <a:xfrm>
            <a:off x="2600659" y="7562997"/>
            <a:ext cx="13086682" cy="738664"/>
          </a:xfrm>
          <a:prstGeom prst="rect">
            <a:avLst/>
          </a:prstGeom>
        </p:spPr>
        <p:txBody>
          <a:bodyPr lIns="0" tIns="0" rIns="0" bIns="0" rtlCol="0" anchor="t">
            <a:spAutoFit/>
          </a:bodyPr>
          <a:lstStyle/>
          <a:p>
            <a:r>
              <a:rPr sz="2400"/>
              <a:t>Our song moves from a warning to an exciting call to action. Step by step, it shows how small daily habits, like a morning walk and a good breakfast, can make us healthier and happier.</a:t>
            </a:r>
          </a:p>
        </p:txBody>
      </p:sp>
      <p:sp>
        <p:nvSpPr>
          <p:cNvPr id="29" name="TextBox 28"/>
          <p:cNvSpPr txBox="1"/>
          <p:nvPr/>
        </p:nvSpPr>
        <p:spPr>
          <a:xfrm>
            <a:off x="2184660" y="4138726"/>
            <a:ext cx="3595513" cy="1400000"/>
          </a:xfrm>
          <a:prstGeom prst="rect">
            <a:avLst/>
          </a:prstGeom>
          <a:noFill/>
        </p:spPr>
        <p:txBody>
          <a:bodyPr wrap="none">
            <a:spAutoFit/>
          </a:bodyPr>
          <a:lstStyle/>
          <a:p>
            <a:pPr algn="ctr"/>
            <a:r>
              <a:rPr sz="9600"/>
              <a:t>🎶</a:t>
            </a:r>
          </a:p>
        </p:txBody>
      </p:sp>
      <p:sp>
        <p:nvSpPr>
          <p:cNvPr id="30" name="TextBox 29"/>
          <p:cNvSpPr txBox="1"/>
          <p:nvPr/>
        </p:nvSpPr>
        <p:spPr>
          <a:xfrm>
            <a:off x="2484660" y="5588726"/>
            <a:ext cx="2995513"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14601" y="330942"/>
            <a:ext cx="1541172" cy="2250601"/>
          </a:xfrm>
          <a:custGeom>
            <a:avLst/>
            <a:gdLst/>
            <a:ahLst/>
            <a:cxnLst/>
            <a:rect l="l" t="t" r="r" b="b"/>
            <a:pathLst>
              <a:path w="1541172" h="2250601">
                <a:moveTo>
                  <a:pt x="0" y="0"/>
                </a:moveTo>
                <a:lnTo>
                  <a:pt x="1541173" y="0"/>
                </a:lnTo>
                <a:lnTo>
                  <a:pt x="1541173" y="2250601"/>
                </a:lnTo>
                <a:lnTo>
                  <a:pt x="0" y="2250601"/>
                </a:lnTo>
                <a:lnTo>
                  <a:pt x="0" y="0"/>
                </a:lnTo>
                <a:close/>
              </a:path>
            </a:pathLst>
          </a:custGeom>
          <a:solidFill>
            <a:srgbClr val="FFDF60"/>
          </a:solidFill>
        </p:spPr>
        <p:txBody>
          <a:bodyPr/>
          <a:lstStyle/>
          <a:p>
            <a:endParaRPr/>
          </a:p>
        </p:txBody>
      </p:sp>
      <p:grpSp>
        <p:nvGrpSpPr>
          <p:cNvPr id="6" name="Group 6"/>
          <p:cNvGrpSpPr/>
          <p:nvPr/>
        </p:nvGrpSpPr>
        <p:grpSpPr>
          <a:xfrm>
            <a:off x="2018815" y="4736334"/>
            <a:ext cx="4585023" cy="3322162"/>
            <a:chOff x="0" y="0"/>
            <a:chExt cx="1074763" cy="778739"/>
          </a:xfrm>
        </p:grpSpPr>
        <p:sp>
          <p:nvSpPr>
            <p:cNvPr id="7" name="Freeform 7"/>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6851488" y="4736334"/>
            <a:ext cx="4585023" cy="3322162"/>
            <a:chOff x="0" y="0"/>
            <a:chExt cx="1074763" cy="778739"/>
          </a:xfrm>
        </p:grpSpPr>
        <p:sp>
          <p:nvSpPr>
            <p:cNvPr id="10" name="Freeform 10"/>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12" name="Group 12"/>
          <p:cNvGrpSpPr/>
          <p:nvPr/>
        </p:nvGrpSpPr>
        <p:grpSpPr>
          <a:xfrm>
            <a:off x="11684162" y="4736334"/>
            <a:ext cx="4585023" cy="3322162"/>
            <a:chOff x="0" y="0"/>
            <a:chExt cx="1074763" cy="778739"/>
          </a:xfrm>
        </p:grpSpPr>
        <p:sp>
          <p:nvSpPr>
            <p:cNvPr id="13" name="Freeform 13"/>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sp>
        <p:nvSpPr>
          <p:cNvPr id="15" name="TextBox 15"/>
          <p:cNvSpPr txBox="1"/>
          <p:nvPr/>
        </p:nvSpPr>
        <p:spPr>
          <a:xfrm>
            <a:off x="5686082" y="1753642"/>
            <a:ext cx="6915837" cy="1193478"/>
          </a:xfrm>
          <a:prstGeom prst="rect">
            <a:avLst/>
          </a:prstGeom>
        </p:spPr>
        <p:txBody>
          <a:bodyPr lIns="0" tIns="0" rIns="0" bIns="0" rtlCol="0" anchor="t">
            <a:spAutoFit/>
          </a:bodyPr>
          <a:lstStyle/>
          <a:p>
            <a:r>
              <a:t>The Story in Our Song</a:t>
            </a:r>
          </a:p>
        </p:txBody>
      </p:sp>
      <p:sp>
        <p:nvSpPr>
          <p:cNvPr id="16" name="TextBox 16"/>
          <p:cNvSpPr txBox="1"/>
          <p:nvPr/>
        </p:nvSpPr>
        <p:spPr>
          <a:xfrm>
            <a:off x="12534316" y="1515310"/>
            <a:ext cx="4039366" cy="365714"/>
          </a:xfrm>
          <a:prstGeom prst="rect">
            <a:avLst/>
          </a:prstGeom>
        </p:spPr>
        <p:txBody>
          <a:bodyPr lIns="0" tIns="0" rIns="0" bIns="0" rtlCol="0" anchor="t">
            <a:spAutoFit/>
          </a:bodyPr>
          <a:lstStyle/>
          <a:p>
            <a:r>
              <a:t>Our Song: Kids Who Exercise</a:t>
            </a:r>
          </a:p>
        </p:txBody>
      </p:sp>
      <p:sp>
        <p:nvSpPr>
          <p:cNvPr id="17" name="TextBox 17"/>
          <p:cNvSpPr txBox="1"/>
          <p:nvPr/>
        </p:nvSpPr>
        <p:spPr>
          <a:xfrm>
            <a:off x="2351370" y="6422374"/>
            <a:ext cx="3919913" cy="1108664"/>
          </a:xfrm>
          <a:prstGeom prst="rect">
            <a:avLst/>
          </a:prstGeom>
        </p:spPr>
        <p:txBody>
          <a:bodyPr lIns="0" tIns="0" rIns="0" bIns="0" rtlCol="0" anchor="t">
            <a:spAutoFit/>
          </a:bodyPr>
          <a:lstStyle/>
          <a:p>
            <a:r>
              <a:t>In Verse 1, a child skips breakfast and doesn't move. The morning feels hard, and studying feels like a struggle.</a:t>
            </a:r>
          </a:p>
        </p:txBody>
      </p:sp>
      <p:sp>
        <p:nvSpPr>
          <p:cNvPr id="18" name="TextBox 18"/>
          <p:cNvSpPr txBox="1"/>
          <p:nvPr/>
        </p:nvSpPr>
        <p:spPr>
          <a:xfrm>
            <a:off x="7184044" y="6422374"/>
            <a:ext cx="3919913" cy="1108664"/>
          </a:xfrm>
          <a:prstGeom prst="rect">
            <a:avLst/>
          </a:prstGeom>
        </p:spPr>
        <p:txBody>
          <a:bodyPr lIns="0" tIns="0" rIns="0" bIns="0" rtlCol="0" anchor="t">
            <a:spAutoFit/>
          </a:bodyPr>
          <a:lstStyle/>
          <a:p>
            <a:r>
              <a:t>In Verse 2, the child moves every day, eats a good breakfast, and runs and jumps under the sun. Life feels fun again!</a:t>
            </a:r>
          </a:p>
        </p:txBody>
      </p:sp>
      <p:sp>
        <p:nvSpPr>
          <p:cNvPr id="19" name="TextBox 19"/>
          <p:cNvSpPr txBox="1"/>
          <p:nvPr/>
        </p:nvSpPr>
        <p:spPr>
          <a:xfrm>
            <a:off x="12016717" y="6422374"/>
            <a:ext cx="3919913" cy="1108664"/>
          </a:xfrm>
          <a:prstGeom prst="rect">
            <a:avLst/>
          </a:prstGeom>
        </p:spPr>
        <p:txBody>
          <a:bodyPr lIns="0" tIns="0" rIns="0" bIns="0" rtlCol="0" anchor="t">
            <a:spAutoFit/>
          </a:bodyPr>
          <a:lstStyle/>
          <a:p>
            <a:r>
              <a:t>The bridge and chorus repeat our message: small steps, day by day, can chase the lazy away and build healthy habits.</a:t>
            </a:r>
          </a:p>
        </p:txBody>
      </p:sp>
      <p:grpSp>
        <p:nvGrpSpPr>
          <p:cNvPr id="20" name="Group 20"/>
          <p:cNvGrpSpPr/>
          <p:nvPr/>
        </p:nvGrpSpPr>
        <p:grpSpPr>
          <a:xfrm>
            <a:off x="2351370" y="5167366"/>
            <a:ext cx="3919913" cy="868643"/>
            <a:chOff x="0" y="0"/>
            <a:chExt cx="918857" cy="203616"/>
          </a:xfrm>
        </p:grpSpPr>
        <p:sp>
          <p:nvSpPr>
            <p:cNvPr id="21" name="Freeform 21"/>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2" name="TextBox 22"/>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184044" y="5167366"/>
            <a:ext cx="3919913" cy="868643"/>
            <a:chOff x="0" y="0"/>
            <a:chExt cx="918857" cy="203616"/>
          </a:xfrm>
        </p:grpSpPr>
        <p:sp>
          <p:nvSpPr>
            <p:cNvPr id="24" name="Freeform 24"/>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5" name="TextBox 25"/>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2016717" y="5167366"/>
            <a:ext cx="3919913" cy="868643"/>
            <a:chOff x="0" y="0"/>
            <a:chExt cx="918857" cy="203616"/>
          </a:xfrm>
        </p:grpSpPr>
        <p:sp>
          <p:nvSpPr>
            <p:cNvPr id="27" name="Freeform 27"/>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8" name="TextBox 28"/>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9"/>
          <p:cNvSpPr txBox="1"/>
          <p:nvPr/>
        </p:nvSpPr>
        <p:spPr>
          <a:xfrm>
            <a:off x="2924682" y="5312699"/>
            <a:ext cx="3346601" cy="397379"/>
          </a:xfrm>
          <a:prstGeom prst="rect">
            <a:avLst/>
          </a:prstGeom>
        </p:spPr>
        <p:txBody>
          <a:bodyPr lIns="0" tIns="0" rIns="0" bIns="0" rtlCol="0" anchor="t">
            <a:spAutoFit/>
          </a:bodyPr>
          <a:lstStyle/>
          <a:p>
            <a:r>
              <a:t>Verse 1: The Problem</a:t>
            </a:r>
          </a:p>
        </p:txBody>
      </p:sp>
      <p:sp>
        <p:nvSpPr>
          <p:cNvPr id="30" name="TextBox 30"/>
          <p:cNvSpPr txBox="1"/>
          <p:nvPr/>
        </p:nvSpPr>
        <p:spPr>
          <a:xfrm>
            <a:off x="7757355" y="5312699"/>
            <a:ext cx="3346601" cy="397379"/>
          </a:xfrm>
          <a:prstGeom prst="rect">
            <a:avLst/>
          </a:prstGeom>
        </p:spPr>
        <p:txBody>
          <a:bodyPr lIns="0" tIns="0" rIns="0" bIns="0" rtlCol="0" anchor="t">
            <a:spAutoFit/>
          </a:bodyPr>
          <a:lstStyle/>
          <a:p>
            <a:r>
              <a:t>Verse 2: The Change</a:t>
            </a:r>
          </a:p>
        </p:txBody>
      </p:sp>
      <p:sp>
        <p:nvSpPr>
          <p:cNvPr id="31" name="TextBox 31"/>
          <p:cNvSpPr txBox="1"/>
          <p:nvPr/>
        </p:nvSpPr>
        <p:spPr>
          <a:xfrm>
            <a:off x="12590028" y="5312699"/>
            <a:ext cx="3346601" cy="397379"/>
          </a:xfrm>
          <a:prstGeom prst="rect">
            <a:avLst/>
          </a:prstGeom>
        </p:spPr>
        <p:txBody>
          <a:bodyPr lIns="0" tIns="0" rIns="0" bIns="0" rtlCol="0" anchor="t">
            <a:spAutoFit/>
          </a:bodyPr>
          <a:lstStyle/>
          <a:p>
            <a:r>
              <a:t>Bridge &amp; Chorus: The Message</a:t>
            </a:r>
          </a:p>
        </p:txBody>
      </p:sp>
      <p:sp>
        <p:nvSpPr>
          <p:cNvPr id="32" name="AutoShape 32"/>
          <p:cNvSpPr/>
          <p:nvPr/>
        </p:nvSpPr>
        <p:spPr>
          <a:xfrm>
            <a:off x="2653094"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3" name="AutoShape 33"/>
          <p:cNvSpPr/>
          <p:nvPr/>
        </p:nvSpPr>
        <p:spPr>
          <a:xfrm>
            <a:off x="7485767"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4" name="AutoShape 34"/>
          <p:cNvSpPr/>
          <p:nvPr/>
        </p:nvSpPr>
        <p:spPr>
          <a:xfrm>
            <a:off x="12318441"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5" name="TextBox 35"/>
          <p:cNvSpPr txBox="1"/>
          <p:nvPr/>
        </p:nvSpPr>
        <p:spPr>
          <a:xfrm>
            <a:off x="2018815" y="3491301"/>
            <a:ext cx="14250370" cy="397379"/>
          </a:xfrm>
          <a:prstGeom prst="rect">
            <a:avLst/>
          </a:prstGeom>
        </p:spPr>
        <p:txBody>
          <a:bodyPr lIns="0" tIns="0" rIns="0" bIns="0" rtlCol="0" anchor="t">
            <a:spAutoFit/>
          </a:bodyPr>
          <a:lstStyle/>
          <a:p>
            <a:r>
              <a:t>Our song tells a simple story: from a tired morning to an active, happy life.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2104549" y="3457979"/>
            <a:ext cx="3347304" cy="4962768"/>
            <a:chOff x="0" y="0"/>
            <a:chExt cx="784633" cy="1163310"/>
          </a:xfrm>
        </p:grpSpPr>
        <p:sp>
          <p:nvSpPr>
            <p:cNvPr id="7" name="Freeform 7"/>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5686082" y="3457979"/>
            <a:ext cx="3347304" cy="4962768"/>
            <a:chOff x="0" y="0"/>
            <a:chExt cx="784633" cy="1163310"/>
          </a:xfrm>
        </p:grpSpPr>
        <p:sp>
          <p:nvSpPr>
            <p:cNvPr id="10" name="Freeform 10"/>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9271510" y="3457979"/>
            <a:ext cx="3347304" cy="4962768"/>
            <a:chOff x="0" y="0"/>
            <a:chExt cx="784633" cy="1163310"/>
          </a:xfrm>
        </p:grpSpPr>
        <p:sp>
          <p:nvSpPr>
            <p:cNvPr id="13" name="Freeform 13"/>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2856939" y="3457979"/>
            <a:ext cx="3347304" cy="4962768"/>
            <a:chOff x="0" y="0"/>
            <a:chExt cx="784633" cy="1163310"/>
          </a:xfrm>
        </p:grpSpPr>
        <p:sp>
          <p:nvSpPr>
            <p:cNvPr id="16" name="Freeform 16"/>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7" name="TextBox 17"/>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AutoShape 26"/>
          <p:cNvSpPr/>
          <p:nvPr/>
        </p:nvSpPr>
        <p:spPr>
          <a:xfrm>
            <a:off x="3607853"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7" name="AutoShape 27"/>
          <p:cNvSpPr/>
          <p:nvPr/>
        </p:nvSpPr>
        <p:spPr>
          <a:xfrm>
            <a:off x="7189385"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8" name="AutoShape 28"/>
          <p:cNvSpPr/>
          <p:nvPr/>
        </p:nvSpPr>
        <p:spPr>
          <a:xfrm>
            <a:off x="10774814"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9" name="AutoShape 29"/>
          <p:cNvSpPr/>
          <p:nvPr/>
        </p:nvSpPr>
        <p:spPr>
          <a:xfrm>
            <a:off x="14360242"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0" name="TextBox 30"/>
          <p:cNvSpPr txBox="1"/>
          <p:nvPr/>
        </p:nvSpPr>
        <p:spPr>
          <a:xfrm>
            <a:off x="5686082" y="1753642"/>
            <a:ext cx="6915837" cy="492443"/>
          </a:xfrm>
          <a:prstGeom prst="rect">
            <a:avLst/>
          </a:prstGeom>
        </p:spPr>
        <p:txBody>
          <a:bodyPr lIns="0" tIns="0" rIns="0" bIns="0" rtlCol="0" anchor="t">
            <a:spAutoFit/>
          </a:bodyPr>
          <a:lstStyle/>
          <a:p>
            <a:r>
              <a:rPr sz="3200" dirty="0"/>
              <a:t>Team Members</a:t>
            </a:r>
          </a:p>
        </p:txBody>
      </p:sp>
      <p:sp>
        <p:nvSpPr>
          <p:cNvPr id="31" name="TextBox 31"/>
          <p:cNvSpPr txBox="1"/>
          <p:nvPr/>
        </p:nvSpPr>
        <p:spPr>
          <a:xfrm>
            <a:off x="12534316" y="1534360"/>
            <a:ext cx="4039366" cy="362950"/>
          </a:xfrm>
          <a:prstGeom prst="rect">
            <a:avLst/>
          </a:prstGeom>
        </p:spPr>
        <p:txBody>
          <a:bodyPr lIns="0" tIns="0" rIns="0" bIns="0" rtlCol="0" anchor="t">
            <a:spAutoFit/>
          </a:bodyPr>
          <a:lstStyle/>
          <a:p>
            <a:r>
              <a:t>Lee Insung and Friends</a:t>
            </a:r>
          </a:p>
        </p:txBody>
      </p:sp>
      <p:sp>
        <p:nvSpPr>
          <p:cNvPr id="32" name="TextBox 32"/>
          <p:cNvSpPr txBox="1"/>
          <p:nvPr/>
        </p:nvSpPr>
        <p:spPr>
          <a:xfrm>
            <a:off x="2399274" y="6122328"/>
            <a:ext cx="1103051" cy="520910"/>
          </a:xfrm>
          <a:prstGeom prst="rect">
            <a:avLst/>
          </a:prstGeom>
        </p:spPr>
        <p:txBody>
          <a:bodyPr lIns="0" tIns="0" rIns="0" bIns="0" rtlCol="0" anchor="t">
            <a:spAutoFit/>
          </a:bodyPr>
          <a:lstStyle/>
          <a:p>
            <a:r>
              <a:t>Lee Minjae</a:t>
            </a:r>
          </a:p>
        </p:txBody>
      </p:sp>
      <p:sp>
        <p:nvSpPr>
          <p:cNvPr id="33" name="TextBox 33"/>
          <p:cNvSpPr txBox="1"/>
          <p:nvPr/>
        </p:nvSpPr>
        <p:spPr>
          <a:xfrm>
            <a:off x="5980807" y="6122328"/>
            <a:ext cx="1103051" cy="520910"/>
          </a:xfrm>
          <a:prstGeom prst="rect">
            <a:avLst/>
          </a:prstGeom>
        </p:spPr>
        <p:txBody>
          <a:bodyPr lIns="0" tIns="0" rIns="0" bIns="0" rtlCol="0" anchor="t">
            <a:spAutoFit/>
          </a:bodyPr>
          <a:lstStyle/>
          <a:p>
            <a:r>
              <a:t>Lee Yeongu</a:t>
            </a:r>
          </a:p>
        </p:txBody>
      </p:sp>
      <p:sp>
        <p:nvSpPr>
          <p:cNvPr id="34" name="TextBox 34"/>
          <p:cNvSpPr txBox="1"/>
          <p:nvPr/>
        </p:nvSpPr>
        <p:spPr>
          <a:xfrm>
            <a:off x="9566235" y="6122328"/>
            <a:ext cx="1103051" cy="520910"/>
          </a:xfrm>
          <a:prstGeom prst="rect">
            <a:avLst/>
          </a:prstGeom>
        </p:spPr>
        <p:txBody>
          <a:bodyPr lIns="0" tIns="0" rIns="0" bIns="0" rtlCol="0" anchor="t">
            <a:spAutoFit/>
          </a:bodyPr>
          <a:lstStyle/>
          <a:p>
            <a:r>
              <a:t>Lee Insung</a:t>
            </a:r>
          </a:p>
        </p:txBody>
      </p:sp>
      <p:sp>
        <p:nvSpPr>
          <p:cNvPr id="35" name="TextBox 35"/>
          <p:cNvSpPr txBox="1"/>
          <p:nvPr/>
        </p:nvSpPr>
        <p:spPr>
          <a:xfrm>
            <a:off x="13151664" y="6122328"/>
            <a:ext cx="1103051" cy="520910"/>
          </a:xfrm>
          <a:prstGeom prst="rect">
            <a:avLst/>
          </a:prstGeom>
        </p:spPr>
        <p:txBody>
          <a:bodyPr lIns="0" tIns="0" rIns="0" bIns="0" rtlCol="0" anchor="t">
            <a:spAutoFit/>
          </a:bodyPr>
          <a:lstStyle/>
          <a:p>
            <a:r>
              <a:t>Lee Hayul</a:t>
            </a:r>
          </a:p>
        </p:txBody>
      </p:sp>
      <p:sp>
        <p:nvSpPr>
          <p:cNvPr id="36" name="TextBox 36"/>
          <p:cNvSpPr txBox="1"/>
          <p:nvPr/>
        </p:nvSpPr>
        <p:spPr>
          <a:xfrm>
            <a:off x="7240162" y="6040339"/>
            <a:ext cx="1319056" cy="342444"/>
          </a:xfrm>
          <a:prstGeom prst="rect">
            <a:avLst/>
          </a:prstGeom>
        </p:spPr>
        <p:txBody>
          <a:bodyPr lIns="0" tIns="0" rIns="0" bIns="0" rtlCol="0" anchor="t">
            <a:spAutoFit/>
          </a:bodyPr>
          <a:lstStyle/>
          <a:p>
            <a:r>
              <a:rPr dirty="0"/>
              <a:t>PPT &amp; Design Lead</a:t>
            </a:r>
          </a:p>
        </p:txBody>
      </p:sp>
      <p:sp>
        <p:nvSpPr>
          <p:cNvPr id="37" name="TextBox 37"/>
          <p:cNvSpPr txBox="1"/>
          <p:nvPr/>
        </p:nvSpPr>
        <p:spPr>
          <a:xfrm>
            <a:off x="3848748" y="6211561"/>
            <a:ext cx="1319056" cy="342444"/>
          </a:xfrm>
          <a:prstGeom prst="rect">
            <a:avLst/>
          </a:prstGeom>
        </p:spPr>
        <p:txBody>
          <a:bodyPr lIns="0" tIns="0" rIns="0" bIns="0" rtlCol="0" anchor="t">
            <a:spAutoFit/>
          </a:bodyPr>
          <a:lstStyle/>
          <a:p>
            <a:r>
              <a:rPr dirty="0"/>
              <a:t>Script Writer</a:t>
            </a:r>
          </a:p>
        </p:txBody>
      </p:sp>
      <p:sp>
        <p:nvSpPr>
          <p:cNvPr id="38" name="TextBox 38"/>
          <p:cNvSpPr txBox="1"/>
          <p:nvPr/>
        </p:nvSpPr>
        <p:spPr>
          <a:xfrm>
            <a:off x="10958264" y="6243486"/>
            <a:ext cx="1319056" cy="342444"/>
          </a:xfrm>
          <a:prstGeom prst="rect">
            <a:avLst/>
          </a:prstGeom>
        </p:spPr>
        <p:txBody>
          <a:bodyPr lIns="0" tIns="0" rIns="0" bIns="0" rtlCol="0" anchor="t">
            <a:spAutoFit/>
          </a:bodyPr>
          <a:lstStyle/>
          <a:p>
            <a:r>
              <a:rPr dirty="0"/>
              <a:t>Presenter &amp; Design</a:t>
            </a:r>
          </a:p>
        </p:txBody>
      </p:sp>
      <p:sp>
        <p:nvSpPr>
          <p:cNvPr id="39" name="TextBox 39"/>
          <p:cNvSpPr txBox="1"/>
          <p:nvPr/>
        </p:nvSpPr>
        <p:spPr>
          <a:xfrm>
            <a:off x="14543692" y="6243486"/>
            <a:ext cx="1319056" cy="342444"/>
          </a:xfrm>
          <a:prstGeom prst="rect">
            <a:avLst/>
          </a:prstGeom>
        </p:spPr>
        <p:txBody>
          <a:bodyPr lIns="0" tIns="0" rIns="0" bIns="0" rtlCol="0" anchor="t">
            <a:spAutoFit/>
          </a:bodyPr>
          <a:lstStyle/>
          <a:p>
            <a:r>
              <a:t>Team Leader &amp; Composer</a:t>
            </a:r>
          </a:p>
        </p:txBody>
      </p:sp>
      <p:sp>
        <p:nvSpPr>
          <p:cNvPr id="40" name="TextBox 40"/>
          <p:cNvSpPr txBox="1"/>
          <p:nvPr/>
        </p:nvSpPr>
        <p:spPr>
          <a:xfrm>
            <a:off x="2399274" y="6938430"/>
            <a:ext cx="2711084" cy="1144000"/>
          </a:xfrm>
          <a:prstGeom prst="rect">
            <a:avLst/>
          </a:prstGeom>
        </p:spPr>
        <p:txBody>
          <a:bodyPr lIns="0" tIns="0" rIns="0" bIns="0" rtlCol="0" anchor="t">
            <a:spAutoFit/>
          </a:bodyPr>
          <a:lstStyle/>
          <a:p>
            <a:r>
              <a:t>Wrote the full presentation script.</a:t>
            </a:r>
          </a:p>
        </p:txBody>
      </p:sp>
      <p:sp>
        <p:nvSpPr>
          <p:cNvPr id="41" name="TextBox 41"/>
          <p:cNvSpPr txBox="1"/>
          <p:nvPr/>
        </p:nvSpPr>
        <p:spPr>
          <a:xfrm>
            <a:off x="5980807" y="6938430"/>
            <a:ext cx="2711084" cy="753475"/>
          </a:xfrm>
          <a:prstGeom prst="rect">
            <a:avLst/>
          </a:prstGeom>
        </p:spPr>
        <p:txBody>
          <a:bodyPr lIns="0" tIns="0" rIns="0" bIns="0" rtlCol="0" anchor="t">
            <a:spAutoFit/>
          </a:bodyPr>
          <a:lstStyle/>
          <a:p>
            <a:r>
              <a:t>Built the slides and led the visual design.</a:t>
            </a:r>
          </a:p>
        </p:txBody>
      </p:sp>
      <p:sp>
        <p:nvSpPr>
          <p:cNvPr id="42" name="TextBox 42"/>
          <p:cNvSpPr txBox="1"/>
          <p:nvPr/>
        </p:nvSpPr>
        <p:spPr>
          <a:xfrm>
            <a:off x="9566235" y="6938430"/>
            <a:ext cx="2711084" cy="753475"/>
          </a:xfrm>
          <a:prstGeom prst="rect">
            <a:avLst/>
          </a:prstGeom>
        </p:spPr>
        <p:txBody>
          <a:bodyPr lIns="0" tIns="0" rIns="0" bIns="0" rtlCol="0" anchor="t">
            <a:spAutoFit/>
          </a:bodyPr>
          <a:lstStyle/>
          <a:p>
            <a:r>
              <a:t>Delivered the presentation and supported the design.</a:t>
            </a:r>
          </a:p>
        </p:txBody>
      </p:sp>
      <p:sp>
        <p:nvSpPr>
          <p:cNvPr id="43" name="TextBox 43"/>
          <p:cNvSpPr txBox="1"/>
          <p:nvPr/>
        </p:nvSpPr>
        <p:spPr>
          <a:xfrm>
            <a:off x="13151664" y="6938430"/>
            <a:ext cx="2711084" cy="753475"/>
          </a:xfrm>
          <a:prstGeom prst="rect">
            <a:avLst/>
          </a:prstGeom>
        </p:spPr>
        <p:txBody>
          <a:bodyPr lIns="0" tIns="0" rIns="0" bIns="0" rtlCol="0" anchor="t">
            <a:spAutoFit/>
          </a:bodyPr>
          <a:lstStyle/>
          <a:p>
            <a:r>
              <a:t>Led the team and composed the song with Suno AI.</a:t>
            </a:r>
          </a:p>
        </p:txBody>
      </p:sp>
      <p:sp>
        <p:nvSpPr>
          <p:cNvPr id="44" name="Oval 43"/>
          <p:cNvSpPr/>
          <p:nvPr/>
        </p:nvSpPr>
        <p:spPr>
          <a:xfrm>
            <a:off x="282820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5" name="Oval 44"/>
          <p:cNvSpPr/>
          <p:nvPr/>
        </p:nvSpPr>
        <p:spPr>
          <a:xfrm>
            <a:off x="6409734"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6" name="Oval 45"/>
          <p:cNvSpPr/>
          <p:nvPr/>
        </p:nvSpPr>
        <p:spPr>
          <a:xfrm>
            <a:off x="9995162"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7" name="Oval 46"/>
          <p:cNvSpPr/>
          <p:nvPr/>
        </p:nvSpPr>
        <p:spPr>
          <a:xfrm>
            <a:off x="1358059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63167"/>
            <a:ext cx="6915837" cy="553998"/>
          </a:xfrm>
          <a:prstGeom prst="rect">
            <a:avLst/>
          </a:prstGeom>
        </p:spPr>
        <p:txBody>
          <a:bodyPr lIns="0" tIns="0" rIns="0" bIns="0" rtlCol="0" anchor="t">
            <a:spAutoFit/>
          </a:bodyPr>
          <a:lstStyle/>
          <a:p>
            <a:r>
              <a:rPr sz="3600" dirty="0"/>
              <a:t>In Conclusion: Our Song's Message</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t>Lee Insung and Friends</a:t>
            </a:r>
          </a:p>
        </p:txBody>
      </p:sp>
      <p:sp>
        <p:nvSpPr>
          <p:cNvPr id="13" name="TextBox 13"/>
          <p:cNvSpPr txBox="1"/>
          <p:nvPr/>
        </p:nvSpPr>
        <p:spPr>
          <a:xfrm>
            <a:off x="7863156" y="5350779"/>
            <a:ext cx="7485100" cy="2585323"/>
          </a:xfrm>
          <a:prstGeom prst="rect">
            <a:avLst/>
          </a:prstGeom>
        </p:spPr>
        <p:txBody>
          <a:bodyPr lIns="0" tIns="0" rIns="0" bIns="0" rtlCol="0" anchor="t">
            <a:spAutoFit/>
          </a:bodyPr>
          <a:lstStyle/>
          <a:p>
            <a:r>
              <a:rPr dirty="0"/>
              <a:t>"</a:t>
            </a:r>
            <a:r>
              <a:rPr sz="2800" dirty="0"/>
              <a:t>Move today for a better tomorrow."</a:t>
            </a:r>
          </a:p>
          <a:p>
            <a:r>
              <a:rPr sz="2800" dirty="0"/>
              <a:t>This is the main message of our song. It starts with a warning, but it ends with hope: small steps today can change tomorrow.</a:t>
            </a:r>
          </a:p>
          <a:p>
            <a:r>
              <a:rPr sz="2800" dirty="0"/>
              <a:t>Listen to our song, and start moving, one step at a time!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49373"/>
            <a:ext cx="6911789" cy="369332"/>
          </a:xfrm>
          <a:prstGeom prst="rect">
            <a:avLst/>
          </a:prstGeom>
        </p:spPr>
        <p:txBody>
          <a:bodyPr lIns="0" tIns="0" rIns="0" bIns="0" rtlCol="0" anchor="t">
            <a:spAutoFit/>
          </a:bodyPr>
          <a:lstStyle/>
          <a:p>
            <a:r>
              <a:rPr sz="2400" dirty="0"/>
              <a:t>Our song's message: a small step today can make a big difference tomorrow.</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"Move today for
a better tomorrow."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55615" y="-150915"/>
            <a:ext cx="1058478" cy="3346967"/>
          </a:xfrm>
          <a:custGeom>
            <a:avLst/>
            <a:gdLst/>
            <a:ahLst/>
            <a:cxnLst/>
            <a:rect l="l" t="t" r="r" b="b"/>
            <a:pathLst>
              <a:path w="1058478" h="3346967">
                <a:moveTo>
                  <a:pt x="0" y="0"/>
                </a:moveTo>
                <a:lnTo>
                  <a:pt x="1058478" y="0"/>
                </a:lnTo>
                <a:lnTo>
                  <a:pt x="1058478" y="3346967"/>
                </a:lnTo>
                <a:lnTo>
                  <a:pt x="0" y="3346967"/>
                </a:lnTo>
                <a:lnTo>
                  <a:pt x="0" y="0"/>
                </a:lnTo>
                <a:close/>
              </a:path>
            </a:pathLst>
          </a:custGeom>
          <a:solidFill>
            <a:srgbClr val="FFDF60"/>
          </a:solidFill>
        </p:spPr>
        <p:txBody>
          <a:bodyPr/>
          <a:lstStyle/>
          <a:p>
            <a:endParaRPr/>
          </a:p>
        </p:txBody>
      </p:sp>
      <p:sp>
        <p:nvSpPr>
          <p:cNvPr id="6" name="TextBox 6"/>
          <p:cNvSpPr txBox="1"/>
          <p:nvPr/>
        </p:nvSpPr>
        <p:spPr>
          <a:xfrm>
            <a:off x="5686082" y="3809224"/>
            <a:ext cx="6915837" cy="1586268"/>
          </a:xfrm>
          <a:prstGeom prst="rect">
            <a:avLst/>
          </a:prstGeom>
        </p:spPr>
        <p:txBody>
          <a:bodyPr lIns="0" tIns="0" rIns="0" bIns="0" rtlCol="0" anchor="t">
            <a:spAutoFit/>
          </a:bodyPr>
          <a:lstStyle/>
          <a:p>
            <a:pPr marL="0" lvl="0" indent="0" algn="ctr">
              <a:lnSpc>
                <a:spcPts val="13019"/>
              </a:lnSpc>
              <a:spcBef>
                <a:spcPct val="0"/>
              </a:spcBef>
            </a:pPr>
            <a:r>
              <a:rPr lang="en-US" sz="10092" b="1" u="none" strike="noStrike" dirty="0">
                <a:solidFill>
                  <a:srgbClr val="34332C"/>
                </a:solidFill>
                <a:latin typeface="마카롱"/>
                <a:ea typeface="마카롱"/>
                <a:cs typeface="마카롱"/>
                <a:sym typeface="마카롱"/>
              </a:rPr>
              <a:t>Thank You!</a:t>
            </a:r>
          </a:p>
        </p:txBody>
      </p:sp>
      <p:sp>
        <p:nvSpPr>
          <p:cNvPr id="7" name="TextBox 7"/>
          <p:cNvSpPr txBox="1"/>
          <p:nvPr/>
        </p:nvSpPr>
        <p:spPr>
          <a:xfrm>
            <a:off x="12534316" y="1543885"/>
            <a:ext cx="4039366" cy="225933"/>
          </a:xfrm>
          <a:prstGeom prst="rect">
            <a:avLst/>
          </a:prstGeom>
        </p:spPr>
        <p:txBody>
          <a:bodyPr lIns="0" tIns="0" rIns="0" bIns="0" rtlCol="0" anchor="t">
            <a:spAutoFit/>
          </a:bodyPr>
          <a:lstStyle/>
          <a:p>
            <a:r>
              <a:t>Lee Insung and Friends</a:t>
            </a:r>
          </a:p>
        </p:txBody>
      </p:sp>
      <p:sp>
        <p:nvSpPr>
          <p:cNvPr id="8" name="TextBox 8"/>
          <p:cNvSpPr txBox="1"/>
          <p:nvPr/>
        </p:nvSpPr>
        <p:spPr>
          <a:xfrm>
            <a:off x="4944232" y="5833124"/>
            <a:ext cx="8399535" cy="369332"/>
          </a:xfrm>
          <a:prstGeom prst="rect">
            <a:avLst/>
          </a:prstGeom>
        </p:spPr>
        <p:txBody>
          <a:bodyPr lIns="0" tIns="0" rIns="0" bIns="0" rtlCol="0" anchor="t">
            <a:spAutoFit/>
          </a:bodyPr>
          <a:lstStyle/>
          <a:p>
            <a:r>
              <a:rPr sz="2400" dirty="0"/>
              <a:t>Thanks for listening to our song. Let's move together and make a healthy tomorrow!</a:t>
            </a:r>
          </a:p>
        </p:txBody>
      </p:sp>
      <p:sp>
        <p:nvSpPr>
          <p:cNvPr id="9" name="TextBox 9"/>
          <p:cNvSpPr txBox="1"/>
          <p:nvPr/>
        </p:nvSpPr>
        <p:spPr>
          <a:xfrm>
            <a:off x="5430240" y="8400539"/>
            <a:ext cx="1704301" cy="454533"/>
          </a:xfrm>
          <a:prstGeom prst="rect">
            <a:avLst/>
          </a:prstGeom>
        </p:spPr>
        <p:txBody>
          <a:bodyPr lIns="0" tIns="0" rIns="0" bIns="0" rtlCol="0" anchor="t">
            <a:spAutoFit/>
          </a:bodyPr>
          <a:lstStyle/>
          <a:p>
            <a:r>
              <a:rPr dirty="0"/>
              <a:t>Lee Minjae · Lee </a:t>
            </a:r>
            <a:r>
              <a:rPr dirty="0" err="1"/>
              <a:t>Yeongu</a:t>
            </a:r>
            <a:r>
              <a:rPr dirty="0"/>
              <a:t> · Lee </a:t>
            </a:r>
            <a:r>
              <a:rPr dirty="0" err="1"/>
              <a:t>Insung</a:t>
            </a:r>
            <a:r>
              <a:rPr dirty="0"/>
              <a:t> · Lee </a:t>
            </a:r>
            <a:r>
              <a:rPr dirty="0" err="1"/>
              <a:t>Hayul</a:t>
            </a:r>
            <a:endParaRPr dirty="0"/>
          </a:p>
        </p:txBody>
      </p:sp>
      <p:sp>
        <p:nvSpPr>
          <p:cNvPr id="10" name="TextBox 10"/>
          <p:cNvSpPr txBox="1"/>
          <p:nvPr/>
        </p:nvSpPr>
        <p:spPr>
          <a:xfrm>
            <a:off x="7639968" y="8400539"/>
            <a:ext cx="3016821" cy="225933"/>
          </a:xfrm>
          <a:prstGeom prst="rect">
            <a:avLst/>
          </a:prstGeom>
        </p:spPr>
        <p:txBody>
          <a:bodyPr lIns="0" tIns="0" rIns="0" bIns="0" rtlCol="0" anchor="t">
            <a:spAutoFit/>
          </a:bodyPr>
          <a:lstStyle/>
          <a:p>
            <a:r>
              <a:t>Song Topic Presentation</a:t>
            </a:r>
          </a:p>
        </p:txBody>
      </p:sp>
      <p:sp>
        <p:nvSpPr>
          <p:cNvPr id="11" name="AutoShape 11"/>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3" name="AutoShape 13"/>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4" name="TextBox 14"/>
          <p:cNvSpPr txBox="1"/>
          <p:nvPr/>
        </p:nvSpPr>
        <p:spPr>
          <a:xfrm>
            <a:off x="11098122" y="8400539"/>
            <a:ext cx="2026166" cy="225933"/>
          </a:xfrm>
          <a:prstGeom prst="rect">
            <a:avLst/>
          </a:prstGeom>
        </p:spPr>
        <p:txBody>
          <a:bodyPr lIns="0" tIns="0" rIns="0" bIns="0" rtlCol="0" anchor="t">
            <a:spAutoFit/>
          </a:bodyPr>
          <a:lstStyle/>
          <a:p>
            <a:r>
              <a:t>Our Song: Kids Who Exercise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437</Words>
  <Application>Microsoft Office PowerPoint</Application>
  <PresentationFormat>사용자 지정</PresentationFormat>
  <Paragraphs>51</Paragraphs>
  <Slides>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Calibri</vt:lpstr>
      <vt:lpstr>마카롱</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절망적 메시지로 이끄는 운동 동기부여 발표</dc:title>
  <cp:lastModifiedBy>[1학년 4반]이영우</cp:lastModifiedBy>
  <cp:revision>2</cp:revision>
  <dcterms:created xsi:type="dcterms:W3CDTF">2006-08-16T00:00:00Z</dcterms:created>
  <dcterms:modified xsi:type="dcterms:W3CDTF">2026-06-11T00:53:47Z</dcterms:modified>
  <dc:identifier>DAHMOH1jvKE</dc:identifier>
</cp:coreProperties>
</file>